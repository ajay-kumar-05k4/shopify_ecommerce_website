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90" r:id="rId12"/>
    <p:sldId id="267" r:id="rId13"/>
    <p:sldId id="291" r:id="rId14"/>
    <p:sldId id="270" r:id="rId15"/>
    <p:sldId id="271" r:id="rId16"/>
    <p:sldId id="273" r:id="rId17"/>
    <p:sldId id="292" r:id="rId18"/>
    <p:sldId id="274" r:id="rId19"/>
    <p:sldId id="279" r:id="rId20"/>
    <p:sldId id="280" r:id="rId21"/>
    <p:sldId id="293" r:id="rId22"/>
    <p:sldId id="281" r:id="rId23"/>
    <p:sldId id="285" r:id="rId24"/>
    <p:sldId id="294" r:id="rId25"/>
    <p:sldId id="295" r:id="rId26"/>
    <p:sldId id="286" r:id="rId27"/>
    <p:sldId id="287" r:id="rId28"/>
    <p:sldId id="288" r:id="rId29"/>
    <p:sldId id="289" r:id="rId30"/>
    <p:sldId id="275" r:id="rId31"/>
    <p:sldId id="276" r:id="rId32"/>
    <p:sldId id="277" r:id="rId33"/>
    <p:sldId id="278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fyUVXimakngECS385XEKTi5X+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CEE6D4-2B6A-4D06-95CB-14536EB14E5D}">
  <a:tblStyle styleId="{12CEE6D4-2B6A-4D06-95CB-14536EB14E5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974" autoAdjust="0"/>
  </p:normalViewPr>
  <p:slideViewPr>
    <p:cSldViewPr snapToGrid="0">
      <p:cViewPr varScale="1">
        <p:scale>
          <a:sx n="72" d="100"/>
          <a:sy n="72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6cf6a2822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86cf6a282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92C29C1D-0581-7547-57CA-B7F973F0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5351BF48-9BE2-30F5-2650-6EAD7463B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6" name="Google Shape;176;p9:notes">
            <a:extLst>
              <a:ext uri="{FF2B5EF4-FFF2-40B4-BE49-F238E27FC236}">
                <a16:creationId xmlns:a16="http://schemas.microsoft.com/office/drawing/2014/main" id="{AAEE48D2-9231-B0EA-5FFF-895EC795B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4565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58a9180d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958a9180db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5" name="Google Shape;185;g3958a9180db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7EBB8CAA-BE83-376B-6EE9-653E2B57D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E08CEAA0-D734-F64D-D471-280C25DC5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6" name="Google Shape;176;p9:notes">
            <a:extLst>
              <a:ext uri="{FF2B5EF4-FFF2-40B4-BE49-F238E27FC236}">
                <a16:creationId xmlns:a16="http://schemas.microsoft.com/office/drawing/2014/main" id="{269A314E-9642-05F9-9227-F72943F0C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1664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6cf6a2822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g386cf6a282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6cf6a2822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g386cf6a282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6cf6a2822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g386cf6a282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BE9DA6D1-E18B-6879-05EB-F896B2512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6cf6a2822_0_59:notes">
            <a:extLst>
              <a:ext uri="{FF2B5EF4-FFF2-40B4-BE49-F238E27FC236}">
                <a16:creationId xmlns:a16="http://schemas.microsoft.com/office/drawing/2014/main" id="{4548754D-7B5B-71C4-A2FE-DCF9B290B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g386cf6a2822_0_59:notes">
            <a:extLst>
              <a:ext uri="{FF2B5EF4-FFF2-40B4-BE49-F238E27FC236}">
                <a16:creationId xmlns:a16="http://schemas.microsoft.com/office/drawing/2014/main" id="{DB773025-C2AF-26EF-31CE-33A75B2BC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5187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6cf6a2822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g386cf6a2822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lang="en-IN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009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2058-0740-9430-1C1C-93EE2601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477E4-6B29-8DB1-D36C-20D81721B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FF54A-A6F4-6C69-9F18-D50F96857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DA6EE-0F01-0A9C-64C1-034A9C6BF3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lang="en-IN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7439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AD45B-A36D-FCA8-B71B-13A0B0DB6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3146E-B25E-108F-4BF0-DBB84F883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D7601-8718-5433-F472-2C34557B7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85BE8-A3D0-0D01-DB3B-CAF6CA291B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lang="en-IN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6096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494A8-5826-F89D-CDB3-039E579A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4CEA1-5AD9-04CC-3977-B4E5F47F2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9E4B5-3F90-A071-83A6-35D66A80A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31A3C-FE2B-630A-70A6-A3B74F0D79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lang="en-IN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23424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6C03-1A26-E6D7-9812-20DC1414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EC88F-D235-82C0-7F38-3146EE988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AB0C4-B449-EBD7-5AEE-4AE9D2CA3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EB0CD-B517-C250-7677-6CDAFC6BEC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lang="en-IN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46318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09B4-A7D0-DF3D-2244-0EF8C2A1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5127E-8A63-ED06-7AA6-C84D9727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DA544-70C6-73CF-8833-0F0B1F59D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45280-BFD2-5515-DF65-2296F78F04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lang="en-IN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9824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2D2F9-2C73-15D5-99A9-548DEC05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B51B5-CD1A-AAD7-70D8-3DEB73F2C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1C3C2-9785-B187-2076-BD83E8283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2A422-6B1D-509A-4F9F-6B6A328661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lang="en-IN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29691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70B1-2386-8FFD-C5DF-8228DBDFC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52F05-2B3D-1D85-5889-22A7DE13F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C779D-185E-E93B-F2C9-90DA77C87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173F9-68D2-2E08-4DCC-1AC456A6F0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lang="en-IN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92612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srst.technoscienceacademy.com/index.php/home/article/view/IJSRST251263?utm_source=chatgpt.com" TargetMode="External"/><Relationship Id="rId7" Type="http://schemas.openxmlformats.org/officeDocument/2006/relationships/hyperlink" Target="https://arxiv.org/abs/2005.06331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ve.nyu.edu/jspui/handle/2451/14144?utm_source=chatgpt.com" TargetMode="External"/><Relationship Id="rId5" Type="http://schemas.openxmlformats.org/officeDocument/2006/relationships/hyperlink" Target="https://ramlai.com/index.php/ramlai/article/view/35?utm_source=chatgpt.com" TargetMode="External"/><Relationship Id="rId4" Type="http://schemas.openxmlformats.org/officeDocument/2006/relationships/hyperlink" Target="https://homepages.dcc.ufmg.br/~nivio/cursos/ri13/sources/recommender-systems-survey-2005.pdf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574625" y="2431073"/>
            <a:ext cx="10658167" cy="104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000"/>
            </a:pPr>
            <a:r>
              <a:rPr lang="en-IN" sz="3600" b="1" u="sng" dirty="0"/>
              <a:t>AI-Based E-Commerce Recommendation System with Analytics Dashboard and Chatbot Support</a:t>
            </a:r>
            <a:endParaRPr sz="36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7355092" y="3984548"/>
            <a:ext cx="4581900" cy="18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100" b="1" u="sng" dirty="0">
                <a:solidFill>
                  <a:srgbClr val="262626"/>
                </a:solidFill>
              </a:rPr>
              <a:t>Presented By:- </a:t>
            </a:r>
            <a:endParaRPr sz="2500" b="1" u="sng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100" dirty="0" err="1">
                <a:solidFill>
                  <a:srgbClr val="262626"/>
                </a:solidFill>
              </a:rPr>
              <a:t>M.Ajay</a:t>
            </a:r>
            <a:r>
              <a:rPr lang="en-IN" sz="2100" dirty="0">
                <a:solidFill>
                  <a:srgbClr val="262626"/>
                </a:solidFill>
              </a:rPr>
              <a:t> Kumar , </a:t>
            </a:r>
            <a:r>
              <a:rPr lang="en-IN" sz="2100" b="1" dirty="0">
                <a:solidFill>
                  <a:srgbClr val="262626"/>
                </a:solidFill>
              </a:rPr>
              <a:t>23B81A05K4</a:t>
            </a:r>
            <a:endParaRPr sz="25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IN" sz="2100" dirty="0" err="1">
                <a:solidFill>
                  <a:srgbClr val="262626"/>
                </a:solidFill>
              </a:rPr>
              <a:t>G.Chandu</a:t>
            </a:r>
            <a:r>
              <a:rPr lang="en-IN" sz="2100" dirty="0">
                <a:solidFill>
                  <a:srgbClr val="262626"/>
                </a:solidFill>
              </a:rPr>
              <a:t> , </a:t>
            </a:r>
            <a:r>
              <a:rPr lang="en-IN" sz="2100" b="1" dirty="0">
                <a:solidFill>
                  <a:srgbClr val="262626"/>
                </a:solidFill>
              </a:rPr>
              <a:t>23B81A05L2</a:t>
            </a:r>
            <a:endParaRPr sz="25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100" dirty="0" err="1">
                <a:solidFill>
                  <a:srgbClr val="262626"/>
                </a:solidFill>
              </a:rPr>
              <a:t>T.Karthik</a:t>
            </a:r>
            <a:r>
              <a:rPr lang="en-IN" sz="2100" dirty="0">
                <a:solidFill>
                  <a:srgbClr val="262626"/>
                </a:solidFill>
              </a:rPr>
              <a:t> Reddy ,</a:t>
            </a:r>
            <a:r>
              <a:rPr lang="en-IN" sz="2100" b="1" dirty="0">
                <a:solidFill>
                  <a:srgbClr val="262626"/>
                </a:solidFill>
              </a:rPr>
              <a:t>23B81A05M2</a:t>
            </a:r>
            <a:endParaRPr sz="25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100" b="1" dirty="0">
                <a:solidFill>
                  <a:srgbClr val="262626"/>
                </a:solidFill>
              </a:rPr>
              <a:t>				</a:t>
            </a:r>
            <a:endParaRPr sz="2100" dirty="0">
              <a:solidFill>
                <a:srgbClr val="262626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023675" y="289675"/>
            <a:ext cx="95937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CVR COLLEGE OF ENGINEERING</a:t>
            </a:r>
            <a:br>
              <a:rPr lang="en-I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(An UGC Autonomous Institute, Accredited by NAAC with ‘A’ Grade)</a:t>
            </a:r>
            <a:br>
              <a:rPr lang="en-I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CSE</a:t>
            </a:r>
            <a:b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Tech CSE-D III Year II Semester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Industrial Oriented Mini Project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793" y="387886"/>
            <a:ext cx="1461393" cy="153193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784562" y="4061215"/>
            <a:ext cx="5533200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2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SUPERVISOR</a:t>
            </a:r>
            <a:r>
              <a:rPr lang="en-IN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Suhail </a:t>
            </a:r>
            <a:r>
              <a:rPr lang="en-IN" sz="2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Afroz,Associate</a:t>
            </a:r>
            <a:r>
              <a:rPr lang="en-IN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Professor,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Department 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0ABD2CD2-C4A9-B362-9E22-872D3151435A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301250" y="338625"/>
            <a:ext cx="11052600" cy="530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3600" b="1"/>
              <a:t>Abstract</a:t>
            </a:r>
            <a:endParaRPr sz="3600" b="1">
              <a:solidFill>
                <a:schemeClr val="dk1"/>
              </a:solidFill>
            </a:endParaRPr>
          </a:p>
        </p:txBody>
      </p:sp>
      <p:cxnSp>
        <p:nvCxnSpPr>
          <p:cNvPr id="106" name="Google Shape;106;p2"/>
          <p:cNvCxnSpPr/>
          <p:nvPr/>
        </p:nvCxnSpPr>
        <p:spPr>
          <a:xfrm rot="10800000" flipH="1">
            <a:off x="301250" y="833029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2</a:t>
            </a:fld>
            <a:endParaRPr sz="1600" b="1"/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301250" y="1055050"/>
            <a:ext cx="11052600" cy="54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buClrTx/>
              <a:buNone/>
            </a:pPr>
            <a:r>
              <a:rPr lang="en-US" sz="2400" dirty="0"/>
              <a:t>This project presents an </a:t>
            </a:r>
            <a:r>
              <a:rPr lang="en-US" sz="2400" b="1" dirty="0"/>
              <a:t>AI-Based E-Commerce Recommendation System with an Analytics Dashboard and Chatbot Support</a:t>
            </a:r>
            <a:r>
              <a:rPr lang="en-US" sz="2400" dirty="0"/>
              <a:t> to overcome the limitations of traditional platforms that mainly offer basic features like product listing and checkout without advanced personalization or intelligent interaction. The system integrates machine-learning-based recommendations, interactive analytics, and an ai-driven chatbot to improve user experience.</a:t>
            </a:r>
          </a:p>
          <a:p>
            <a:pPr marL="0" indent="0" algn="just">
              <a:buClrTx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dirty="0"/>
              <a:t>It follows a </a:t>
            </a:r>
            <a:r>
              <a:rPr lang="en-US" sz="2400" b="1" dirty="0"/>
              <a:t>modular multi-tier architecture</a:t>
            </a:r>
            <a:r>
              <a:rPr lang="en-US" sz="2400" dirty="0"/>
              <a:t> consisting of a modern frontend, secure backend, and a Python-based machine learning microservice. By analyzing user behavior and purchase history, the system generates personalized recommendations, visualizes sales insights through a dashboard, and provides chatbot assistance, resulting in a scalable and intelligent e-commerce platform.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6765CA-AF71-0583-A360-B1A4DD50E682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301275" y="281075"/>
            <a:ext cx="11052600" cy="494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imes New Roman"/>
              <a:buNone/>
            </a:pPr>
            <a:r>
              <a:rPr lang="en-IN" sz="3600" b="1">
                <a:solidFill>
                  <a:schemeClr val="dk1"/>
                </a:solidFill>
              </a:rPr>
              <a:t>Introduction</a:t>
            </a:r>
            <a:endParaRPr sz="3600" b="1">
              <a:solidFill>
                <a:schemeClr val="dk1"/>
              </a:solidFill>
            </a:endParaRPr>
          </a:p>
        </p:txBody>
      </p:sp>
      <p:cxnSp>
        <p:nvCxnSpPr>
          <p:cNvPr id="114" name="Google Shape;114;p3"/>
          <p:cNvCxnSpPr/>
          <p:nvPr/>
        </p:nvCxnSpPr>
        <p:spPr>
          <a:xfrm rot="10800000" flipH="1">
            <a:off x="301275" y="739354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3</a:t>
            </a:fld>
            <a:endParaRPr sz="1600" b="1"/>
          </a:p>
        </p:txBody>
      </p:sp>
      <p:sp>
        <p:nvSpPr>
          <p:cNvPr id="118" name="Google Shape;118;p3"/>
          <p:cNvSpPr txBox="1"/>
          <p:nvPr/>
        </p:nvSpPr>
        <p:spPr>
          <a:xfrm>
            <a:off x="301275" y="995025"/>
            <a:ext cx="11052600" cy="547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E-commerce platforms play a vital role in modern digital commerce.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Many existing platforms provide limited personalization and generic product recommendations.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Customer support systems in traditional platforms are often basic and less interactive.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rapid growth of user data and advancements in artificial intelligence create opportunities for intelligent solutions.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There is a need for systems that can analyze user behavior and generate meaningful insights.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This project proposes an </a:t>
            </a:r>
            <a:r>
              <a:rPr lang="en-US" sz="2400" b="1" dirty="0"/>
              <a:t>AI-powered e-commerce system</a:t>
            </a:r>
            <a:r>
              <a:rPr lang="en-US" sz="2400" dirty="0"/>
              <a:t> integrating recommendation engines, analytics dashboards, and chatbot support.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system aims to enhance customer experience and support data-driven business decision-making.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A536F89B-154A-975D-D6EB-99C1F89785F0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301250" y="337275"/>
            <a:ext cx="11052600" cy="477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3600" b="1">
                <a:solidFill>
                  <a:schemeClr val="dk1"/>
                </a:solidFill>
              </a:rPr>
              <a:t>Problem Statement</a:t>
            </a:r>
            <a:endParaRPr sz="3600" b="1">
              <a:solidFill>
                <a:schemeClr val="dk1"/>
              </a:solidFill>
            </a:endParaRPr>
          </a:p>
        </p:txBody>
      </p:sp>
      <p:cxnSp>
        <p:nvCxnSpPr>
          <p:cNvPr id="124" name="Google Shape;124;p4"/>
          <p:cNvCxnSpPr/>
          <p:nvPr/>
        </p:nvCxnSpPr>
        <p:spPr>
          <a:xfrm rot="10800000" flipH="1">
            <a:off x="301250" y="814304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4</a:t>
            </a:fld>
            <a:endParaRPr sz="1600" b="1"/>
          </a:p>
        </p:txBody>
      </p:sp>
      <p:sp>
        <p:nvSpPr>
          <p:cNvPr id="126" name="Google Shape;126;p4"/>
          <p:cNvSpPr txBox="1">
            <a:spLocks noGrp="1"/>
          </p:cNvSpPr>
          <p:nvPr>
            <p:ph type="body" idx="1"/>
          </p:nvPr>
        </p:nvSpPr>
        <p:spPr>
          <a:xfrm>
            <a:off x="301250" y="968175"/>
            <a:ext cx="11052600" cy="46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/>
              <a:t>                       Existing e-commerce platforms rely on generic, non-personalized recommendation systems that fail to reflect individual user preferences, resulting in reduced customer engagement and satisfaction. They also lack real-time analytics and actionable insights, limiting the ability to make timely, data-driven decisions. Customer support is often restricted to basic rule-based systems that cannot effectively handle complex queries. Additionally, poor integration between recommendation systems, analytics, and support services further reduces the overall efficiency and cohesiveness of the platform.</a:t>
            </a:r>
          </a:p>
          <a:p>
            <a:pPr marL="0" lvl="0" indent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3EB9A67B-FBA8-9D1B-CBEE-7FA118511711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Google Shape;131;p5"/>
          <p:cNvCxnSpPr/>
          <p:nvPr/>
        </p:nvCxnSpPr>
        <p:spPr>
          <a:xfrm rot="10800000" flipH="1">
            <a:off x="301263" y="870504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2" name="Google Shape;1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5</a:t>
            </a:fld>
            <a:endParaRPr sz="1600" b="1"/>
          </a:p>
        </p:txBody>
      </p:sp>
      <p:graphicFrame>
        <p:nvGraphicFramePr>
          <p:cNvPr id="133" name="Google Shape;133;p5"/>
          <p:cNvGraphicFramePr/>
          <p:nvPr>
            <p:extLst>
              <p:ext uri="{D42A27DB-BD31-4B8C-83A1-F6EECF244321}">
                <p14:modId xmlns:p14="http://schemas.microsoft.com/office/powerpoint/2010/main" val="4021368002"/>
              </p:ext>
            </p:extLst>
          </p:nvPr>
        </p:nvGraphicFramePr>
        <p:xfrm>
          <a:off x="205582" y="800967"/>
          <a:ext cx="11607191" cy="6066299"/>
        </p:xfrm>
        <a:graphic>
          <a:graphicData uri="http://schemas.openxmlformats.org/drawingml/2006/table">
            <a:tbl>
              <a:tblPr>
                <a:noFill/>
                <a:tableStyleId>{12CEE6D4-2B6A-4D06-95CB-14536EB14E5D}</a:tableStyleId>
              </a:tblPr>
              <a:tblGrid>
                <a:gridCol w="1014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5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&amp; Research Work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Implication / Limitation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Major Research Gap Identified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08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[1]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Neelima Jain, Abid Hussain – </a:t>
                      </a:r>
                      <a:r>
                        <a:rPr lang="en-US" sz="1600" i="1" dirty="0"/>
                        <a:t>Hybrid ML Approach for E-Commerce Recommendation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Hybrid models improve recommendation accuracy and personalization.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focus on real-time analytics integration and system-level implementation.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37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[2]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Adomavicius</a:t>
                      </a:r>
                      <a:r>
                        <a:rPr lang="en-US" sz="1600" dirty="0"/>
                        <a:t> &amp; </a:t>
                      </a:r>
                      <a:r>
                        <a:rPr lang="en-US" sz="1600" dirty="0" err="1"/>
                        <a:t>Tuzhilin</a:t>
                      </a:r>
                      <a:r>
                        <a:rPr lang="en-US" sz="1600" dirty="0"/>
                        <a:t> – </a:t>
                      </a:r>
                      <a:r>
                        <a:rPr lang="en-US" sz="1600" i="1" dirty="0"/>
                        <a:t>Next Generation of Recommender Systems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Emphasizes personalization, scalability, and hybrid recommendation techniques.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dirty="0"/>
                        <a:t>Does not address unified integration with dashboards and chatbot systems</a:t>
                      </a:r>
                      <a:endParaRPr sz="1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37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[3]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Ahmed Hassan – </a:t>
                      </a:r>
                      <a:r>
                        <a:rPr lang="en-US" sz="1600" i="1" dirty="0"/>
                        <a:t>Recommendation using Reinforcement Learning and NLP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RL and NLP improve adaptive recommendations and customer interaction.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Lacks complete full-stack deployment and business analytics integration.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37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[4]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Rajpurkar et al. – </a:t>
                      </a:r>
                      <a:r>
                        <a:rPr lang="it-IT" sz="1600" i="1" dirty="0"/>
                        <a:t>SQUAD: Machine Comprehension Dataset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Establishes foundation for NLP-based intelligent chatbots capable of understanding user intent.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Not specifically applied to e-commerce conversational support systems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99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[5]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Feldman &amp; Sanger – </a:t>
                      </a:r>
                      <a:r>
                        <a:rPr lang="en-IN" sz="1600" i="1" dirty="0"/>
                        <a:t>Text Mining Handbook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Explains integration of analytics, backend systems, and intelligent data processing.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Does not provide a unified AI-driven e-commerce implementation combining recommendation and chatbot modules</a:t>
                      </a:r>
                      <a:endParaRPr lang="en-IN"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205582" y="96610"/>
            <a:ext cx="11607190" cy="550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3600" b="1"/>
              <a:t>Literature Review and Objective</a:t>
            </a:r>
            <a:endParaRPr sz="3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g386cf6a2822_0_11"/>
          <p:cNvCxnSpPr/>
          <p:nvPr/>
        </p:nvCxnSpPr>
        <p:spPr>
          <a:xfrm rot="10800000" flipH="1">
            <a:off x="301250" y="889254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g386cf6a2822_0_11"/>
          <p:cNvSpPr txBox="1">
            <a:spLocks noGrp="1"/>
          </p:cNvSpPr>
          <p:nvPr>
            <p:ph type="sldNum" idx="12"/>
          </p:nvPr>
        </p:nvSpPr>
        <p:spPr>
          <a:xfrm>
            <a:off x="8610625" y="6150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6</a:t>
            </a:fld>
            <a:endParaRPr sz="1600" b="1"/>
          </a:p>
        </p:txBody>
      </p:sp>
      <p:sp>
        <p:nvSpPr>
          <p:cNvPr id="141" name="Google Shape;141;g386cf6a2822_0_11"/>
          <p:cNvSpPr txBox="1">
            <a:spLocks noGrp="1"/>
          </p:cNvSpPr>
          <p:nvPr>
            <p:ph type="title"/>
          </p:nvPr>
        </p:nvSpPr>
        <p:spPr>
          <a:xfrm>
            <a:off x="301125" y="303599"/>
            <a:ext cx="11052600" cy="550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3600" b="1"/>
              <a:t>Literature Review and Objective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142" name="Google Shape;142;g386cf6a2822_0_11"/>
          <p:cNvSpPr txBox="1"/>
          <p:nvPr/>
        </p:nvSpPr>
        <p:spPr>
          <a:xfrm>
            <a:off x="413025" y="1717125"/>
            <a:ext cx="109407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Design an </a:t>
            </a:r>
            <a:r>
              <a:rPr lang="en-US" sz="2400" b="1" dirty="0"/>
              <a:t>AI-based personalized product recommendation system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Analyze </a:t>
            </a:r>
            <a:r>
              <a:rPr lang="en-US" sz="2400" b="1" dirty="0"/>
              <a:t>user behavior and purchase history</a:t>
            </a:r>
            <a:r>
              <a:rPr lang="en-US" sz="2400" dirty="0"/>
              <a:t> for predictive insights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Develop an </a:t>
            </a:r>
            <a:r>
              <a:rPr lang="en-US" sz="2400" b="1" dirty="0"/>
              <a:t>interactive analytics dashboard</a:t>
            </a:r>
            <a:r>
              <a:rPr lang="en-US" sz="2400" dirty="0"/>
              <a:t> for visualization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Integrate an </a:t>
            </a:r>
            <a:r>
              <a:rPr lang="en-US" sz="2400" b="1" dirty="0"/>
              <a:t>NLP-based chatbot</a:t>
            </a:r>
            <a:r>
              <a:rPr lang="en-US" sz="2400" dirty="0"/>
              <a:t> for intelligent customer support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Build a </a:t>
            </a:r>
            <a:r>
              <a:rPr lang="en-US" sz="2400" b="1" dirty="0"/>
              <a:t>scalable and secure full-stack e-commerce platform</a:t>
            </a:r>
            <a:endParaRPr lang="en-US" sz="2400" dirty="0"/>
          </a:p>
        </p:txBody>
      </p:sp>
      <p:sp>
        <p:nvSpPr>
          <p:cNvPr id="143" name="Google Shape;143;g386cf6a2822_0_11"/>
          <p:cNvSpPr txBox="1">
            <a:spLocks noGrp="1"/>
          </p:cNvSpPr>
          <p:nvPr>
            <p:ph type="title"/>
          </p:nvPr>
        </p:nvSpPr>
        <p:spPr>
          <a:xfrm>
            <a:off x="413025" y="1161552"/>
            <a:ext cx="8596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800" b="1" dirty="0"/>
              <a:t>Objectives:- </a:t>
            </a:r>
            <a:endParaRPr sz="2800" b="1" dirty="0">
              <a:solidFill>
                <a:schemeClr val="dk1"/>
              </a:solidFill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9E4D5B7-A21D-3AA8-C73A-9288D5A436D3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301275" y="356000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3600" b="1">
                <a:solidFill>
                  <a:schemeClr val="dk1"/>
                </a:solidFill>
              </a:rPr>
              <a:t>Existing Systems</a:t>
            </a:r>
            <a:endParaRPr sz="3600" b="1">
              <a:solidFill>
                <a:schemeClr val="dk1"/>
              </a:solidFill>
            </a:endParaRPr>
          </a:p>
        </p:txBody>
      </p:sp>
      <p:cxnSp>
        <p:nvCxnSpPr>
          <p:cNvPr id="149" name="Google Shape;149;p6"/>
          <p:cNvCxnSpPr/>
          <p:nvPr/>
        </p:nvCxnSpPr>
        <p:spPr>
          <a:xfrm rot="10800000" flipH="1">
            <a:off x="301275" y="907979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" name="Google Shape;15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7</a:t>
            </a:fld>
            <a:endParaRPr sz="1600" b="1"/>
          </a:p>
        </p:txBody>
      </p:sp>
      <p:sp>
        <p:nvSpPr>
          <p:cNvPr id="151" name="Google Shape;151;p6"/>
          <p:cNvSpPr txBox="1">
            <a:spLocks noGrp="1"/>
          </p:cNvSpPr>
          <p:nvPr>
            <p:ph type="body" idx="1"/>
          </p:nvPr>
        </p:nvSpPr>
        <p:spPr>
          <a:xfrm>
            <a:off x="301275" y="1117750"/>
            <a:ext cx="11052600" cy="52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E-commerce platforms such as </a:t>
            </a:r>
            <a:r>
              <a:rPr lang="en-US" sz="2400" b="1" dirty="0"/>
              <a:t>Amazon, Flipkart, and eBay</a:t>
            </a:r>
            <a:r>
              <a:rPr lang="en-US" sz="2400" dirty="0"/>
              <a:t> provide online product browsing, cart management, and checkout services.</a:t>
            </a:r>
          </a:p>
          <a:p>
            <a:pPr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Most systems use </a:t>
            </a:r>
            <a:r>
              <a:rPr lang="en-US" sz="2400" b="1" dirty="0"/>
              <a:t>collaborative filtering or rule-based recommendation techniques</a:t>
            </a:r>
            <a:r>
              <a:rPr lang="en-US" sz="2400" dirty="0"/>
              <a:t>, offering limited personalization</a:t>
            </a:r>
          </a:p>
          <a:p>
            <a:pPr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Analytics dashboards in many platforms mainly provide </a:t>
            </a:r>
            <a:r>
              <a:rPr lang="en-US" sz="2400" b="1" dirty="0"/>
              <a:t>static sales reports</a:t>
            </a:r>
            <a:r>
              <a:rPr lang="en-US" sz="2400" dirty="0"/>
              <a:t> rather than real-time interactive insights.</a:t>
            </a:r>
          </a:p>
          <a:p>
            <a:pPr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Customer support is typically handled through </a:t>
            </a:r>
            <a:r>
              <a:rPr lang="en-US" sz="2400" b="1" dirty="0"/>
              <a:t>FAQ-based or rule-driven chatbots</a:t>
            </a:r>
            <a:r>
              <a:rPr lang="en-US" sz="2400" dirty="0"/>
              <a:t>, which have limited ability to understand complex user queries.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Tx/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Tx/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endParaRPr sz="2400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621D1AC-D231-B1AD-ADF4-EFB4CF3549AC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>
            <a:spLocks noGrp="1"/>
          </p:cNvSpPr>
          <p:nvPr>
            <p:ph type="title"/>
          </p:nvPr>
        </p:nvSpPr>
        <p:spPr>
          <a:xfrm>
            <a:off x="301250" y="356025"/>
            <a:ext cx="11052600" cy="592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 sz="4000" b="1"/>
              <a:t>Functional And Non-Functional Requirements:</a:t>
            </a:r>
            <a:endParaRPr sz="4000" b="1"/>
          </a:p>
        </p:txBody>
      </p:sp>
      <p:sp>
        <p:nvSpPr>
          <p:cNvPr id="157" name="Google Shape;157;p7"/>
          <p:cNvSpPr txBox="1">
            <a:spLocks noGrp="1"/>
          </p:cNvSpPr>
          <p:nvPr>
            <p:ph type="body" idx="1"/>
          </p:nvPr>
        </p:nvSpPr>
        <p:spPr>
          <a:xfrm>
            <a:off x="567039" y="1161750"/>
            <a:ext cx="5157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800" u="sng" dirty="0"/>
              <a:t>Functional Requirements</a:t>
            </a:r>
            <a:endParaRPr sz="2800" u="sng" dirty="0"/>
          </a:p>
        </p:txBody>
      </p:sp>
      <p:sp>
        <p:nvSpPr>
          <p:cNvPr id="158" name="Google Shape;158;p7"/>
          <p:cNvSpPr txBox="1">
            <a:spLocks noGrp="1"/>
          </p:cNvSpPr>
          <p:nvPr>
            <p:ph type="body" idx="3"/>
          </p:nvPr>
        </p:nvSpPr>
        <p:spPr>
          <a:xfrm>
            <a:off x="6138708" y="1161750"/>
            <a:ext cx="51831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800" u="sng" dirty="0"/>
              <a:t>Non-Functional Requirements</a:t>
            </a:r>
            <a:endParaRPr sz="2800" u="sng" dirty="0"/>
          </a:p>
        </p:txBody>
      </p:sp>
      <p:sp>
        <p:nvSpPr>
          <p:cNvPr id="159" name="Google Shape;159;p7"/>
          <p:cNvSpPr txBox="1">
            <a:spLocks noGrp="1"/>
          </p:cNvSpPr>
          <p:nvPr>
            <p:ph type="sldNum" idx="12"/>
          </p:nvPr>
        </p:nvSpPr>
        <p:spPr>
          <a:xfrm>
            <a:off x="8610622" y="58317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cxnSp>
        <p:nvCxnSpPr>
          <p:cNvPr id="160" name="Google Shape;160;p7"/>
          <p:cNvCxnSpPr/>
          <p:nvPr/>
        </p:nvCxnSpPr>
        <p:spPr>
          <a:xfrm rot="10800000" flipH="1">
            <a:off x="301250" y="912065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1" name="Google Shape;161;p7"/>
          <p:cNvSpPr txBox="1">
            <a:spLocks noGrp="1"/>
          </p:cNvSpPr>
          <p:nvPr>
            <p:ph type="body" idx="2"/>
          </p:nvPr>
        </p:nvSpPr>
        <p:spPr>
          <a:xfrm>
            <a:off x="426126" y="1692600"/>
            <a:ext cx="5157900" cy="42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User authentication and authorization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Product browsing, searching, and ordering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Personalized product recommendations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Sales and customer analytics visualization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Chatbot-based product search and query handling</a:t>
            </a:r>
          </a:p>
        </p:txBody>
      </p:sp>
      <p:sp>
        <p:nvSpPr>
          <p:cNvPr id="162" name="Google Shape;162;p7"/>
          <p:cNvSpPr txBox="1">
            <a:spLocks noGrp="1"/>
          </p:cNvSpPr>
          <p:nvPr>
            <p:ph type="body" idx="4"/>
          </p:nvPr>
        </p:nvSpPr>
        <p:spPr>
          <a:xfrm>
            <a:off x="6138708" y="1692600"/>
            <a:ext cx="5183100" cy="45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System scalability and performance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Data security and secure authentication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High availability and reliability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Responsive and user-friendly interface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Maintainability and modular design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73DD290-30ED-1ECA-8E17-02221E2BA0A4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>
            <a:spLocks noGrp="1"/>
          </p:cNvSpPr>
          <p:nvPr>
            <p:ph type="title"/>
          </p:nvPr>
        </p:nvSpPr>
        <p:spPr>
          <a:xfrm>
            <a:off x="434100" y="374550"/>
            <a:ext cx="11052600" cy="5709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 sz="4000" b="1">
                <a:solidFill>
                  <a:schemeClr val="dk1"/>
                </a:solidFill>
              </a:rPr>
              <a:t>Hardware &amp; Software Requirements</a:t>
            </a:r>
            <a:endParaRPr sz="4000" b="1">
              <a:solidFill>
                <a:schemeClr val="dk1"/>
              </a:solidFill>
            </a:endParaRPr>
          </a:p>
        </p:txBody>
      </p:sp>
      <p:sp>
        <p:nvSpPr>
          <p:cNvPr id="168" name="Google Shape;168;p8"/>
          <p:cNvSpPr txBox="1">
            <a:spLocks noGrp="1"/>
          </p:cNvSpPr>
          <p:nvPr>
            <p:ph type="body" idx="1"/>
          </p:nvPr>
        </p:nvSpPr>
        <p:spPr>
          <a:xfrm>
            <a:off x="483550" y="1099875"/>
            <a:ext cx="51579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 sz="2800" u="sng"/>
              <a:t>Hardware Requirements</a:t>
            </a:r>
            <a:endParaRPr sz="2800" u="sng"/>
          </a:p>
        </p:txBody>
      </p:sp>
      <p:sp>
        <p:nvSpPr>
          <p:cNvPr id="169" name="Google Shape;169;p8"/>
          <p:cNvSpPr txBox="1">
            <a:spLocks noGrp="1"/>
          </p:cNvSpPr>
          <p:nvPr>
            <p:ph type="body" idx="2"/>
          </p:nvPr>
        </p:nvSpPr>
        <p:spPr>
          <a:xfrm>
            <a:off x="324100" y="1727550"/>
            <a:ext cx="5476800" cy="47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 dirty="0"/>
              <a:t>▪ </a:t>
            </a:r>
            <a:r>
              <a:rPr lang="en-IN" sz="2400" b="1" dirty="0"/>
              <a:t>Processor </a:t>
            </a:r>
            <a:r>
              <a:rPr lang="en-IN" sz="2400" dirty="0"/>
              <a:t>(Intel i3 or above)</a:t>
            </a:r>
            <a:br>
              <a:rPr lang="en-IN" sz="2400" dirty="0"/>
            </a:br>
            <a:r>
              <a:rPr lang="en-IN" sz="2400" dirty="0"/>
              <a:t>▪ </a:t>
            </a:r>
            <a:r>
              <a:rPr lang="en-IN" sz="2400" b="1" dirty="0"/>
              <a:t>RAM </a:t>
            </a:r>
            <a:r>
              <a:rPr lang="en-IN" sz="2400" dirty="0"/>
              <a:t>(4 GB minimum, 8 GB recommended)</a:t>
            </a:r>
            <a:br>
              <a:rPr lang="en-IN" sz="2400" dirty="0"/>
            </a:br>
            <a:r>
              <a:rPr lang="en-IN" sz="2400" dirty="0"/>
              <a:t>▪ </a:t>
            </a:r>
            <a:r>
              <a:rPr lang="en-IN" sz="2400" b="1" dirty="0"/>
              <a:t>Storage </a:t>
            </a:r>
            <a:r>
              <a:rPr lang="en-IN" sz="2400" dirty="0"/>
              <a:t>(10 GB free disk space)</a:t>
            </a:r>
            <a:br>
              <a:rPr lang="en-IN" sz="2400" dirty="0"/>
            </a:br>
            <a:r>
              <a:rPr lang="en-IN" sz="2400" dirty="0"/>
              <a:t>▪ </a:t>
            </a:r>
            <a:r>
              <a:rPr lang="en-IN" sz="2400" b="1" dirty="0"/>
              <a:t>Internet Connection</a:t>
            </a:r>
            <a:r>
              <a:rPr lang="en-IN" sz="2400" dirty="0"/>
              <a:t> (required for system access and chat features)</a:t>
            </a:r>
            <a:br>
              <a:rPr lang="en-IN" sz="2400" dirty="0"/>
            </a:br>
            <a:r>
              <a:rPr lang="en-IN" sz="2400" dirty="0"/>
              <a:t>▪ </a:t>
            </a:r>
            <a:r>
              <a:rPr lang="en-IN" sz="2400" b="1" dirty="0"/>
              <a:t>Display Device</a:t>
            </a:r>
            <a:r>
              <a:rPr lang="en-IN" sz="2400" dirty="0"/>
              <a:t> (Laptop or Desktop)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8"/>
          <p:cNvSpPr txBox="1">
            <a:spLocks noGrp="1"/>
          </p:cNvSpPr>
          <p:nvPr>
            <p:ph type="body" idx="3"/>
          </p:nvPr>
        </p:nvSpPr>
        <p:spPr>
          <a:xfrm>
            <a:off x="6135050" y="1099879"/>
            <a:ext cx="5183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 sz="2800" u="sng"/>
              <a:t>Software Requirements</a:t>
            </a:r>
            <a:endParaRPr sz="2800" u="sng"/>
          </a:p>
        </p:txBody>
      </p:sp>
      <p:sp>
        <p:nvSpPr>
          <p:cNvPr id="171" name="Google Shape;171;p8"/>
          <p:cNvSpPr txBox="1">
            <a:spLocks noGrp="1"/>
          </p:cNvSpPr>
          <p:nvPr>
            <p:ph type="body" idx="4"/>
          </p:nvPr>
        </p:nvSpPr>
        <p:spPr>
          <a:xfrm>
            <a:off x="5928649" y="1453350"/>
            <a:ext cx="5682103" cy="50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Frontend</a:t>
            </a:r>
            <a:r>
              <a:rPr lang="en-IN" sz="2400" dirty="0"/>
              <a:t>: React.js, HTML5, CSS3, JavaScript, Tailwind CSS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Backend</a:t>
            </a:r>
            <a:r>
              <a:rPr lang="en-IN" sz="2400" dirty="0"/>
              <a:t>: Node.js, Express.js, REST APIs, JWT Authentication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Database</a:t>
            </a:r>
            <a:r>
              <a:rPr lang="en-IN" sz="2400" dirty="0"/>
              <a:t>: MongoDB, Mongoose ORM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Machine Learning</a:t>
            </a:r>
            <a:r>
              <a:rPr lang="en-IN" sz="2400" dirty="0"/>
              <a:t>: Python, Flask, Scikit-learn, Pandas, NumPy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Visualization</a:t>
            </a:r>
            <a:r>
              <a:rPr lang="en-IN" sz="2400" dirty="0"/>
              <a:t>: Chart.js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AI Chatbot</a:t>
            </a:r>
            <a:r>
              <a:rPr lang="en-IN" sz="2400" dirty="0"/>
              <a:t> (Flask, </a:t>
            </a:r>
            <a:r>
              <a:rPr lang="en-IN" sz="2400" dirty="0" err="1"/>
              <a:t>Groq</a:t>
            </a:r>
            <a:r>
              <a:rPr lang="en-IN" sz="2400" dirty="0"/>
              <a:t> API)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Browser </a:t>
            </a:r>
            <a:r>
              <a:rPr lang="en-IN" sz="2400" dirty="0"/>
              <a:t>(Google Chrome, Edge)</a:t>
            </a:r>
          </a:p>
        </p:txBody>
      </p:sp>
      <p:sp>
        <p:nvSpPr>
          <p:cNvPr id="172" name="Google Shape;17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9</a:t>
            </a:fld>
            <a:endParaRPr sz="1600" b="1"/>
          </a:p>
        </p:txBody>
      </p:sp>
      <p:cxnSp>
        <p:nvCxnSpPr>
          <p:cNvPr id="173" name="Google Shape;173;p8"/>
          <p:cNvCxnSpPr/>
          <p:nvPr/>
        </p:nvCxnSpPr>
        <p:spPr>
          <a:xfrm rot="10800000" flipH="1">
            <a:off x="434100" y="945454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AAE24CC-0FFF-68B9-1DA2-82BD9A08032E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>
            <a:spLocks noGrp="1"/>
          </p:cNvSpPr>
          <p:nvPr>
            <p:ph type="title"/>
          </p:nvPr>
        </p:nvSpPr>
        <p:spPr>
          <a:xfrm>
            <a:off x="301250" y="263675"/>
            <a:ext cx="11052600" cy="494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3600" b="1" dirty="0">
                <a:solidFill>
                  <a:schemeClr val="dk1"/>
                </a:solidFill>
              </a:rPr>
              <a:t>Proposed Methodology</a:t>
            </a:r>
            <a:endParaRPr sz="3600" b="1" dirty="0">
              <a:solidFill>
                <a:schemeClr val="dk1"/>
              </a:solidFill>
            </a:endParaRPr>
          </a:p>
        </p:txBody>
      </p:sp>
      <p:cxnSp>
        <p:nvCxnSpPr>
          <p:cNvPr id="179" name="Google Shape;179;p9"/>
          <p:cNvCxnSpPr/>
          <p:nvPr/>
        </p:nvCxnSpPr>
        <p:spPr>
          <a:xfrm rot="10800000" flipH="1">
            <a:off x="301250" y="758079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0" name="Google Shape;18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10</a:t>
            </a:fld>
            <a:endParaRPr sz="1600" b="1"/>
          </a:p>
        </p:txBody>
      </p:sp>
      <p:sp>
        <p:nvSpPr>
          <p:cNvPr id="181" name="Google Shape;181;p9"/>
          <p:cNvSpPr txBox="1">
            <a:spLocks noGrp="1"/>
          </p:cNvSpPr>
          <p:nvPr>
            <p:ph type="body" idx="1"/>
          </p:nvPr>
        </p:nvSpPr>
        <p:spPr>
          <a:xfrm>
            <a:off x="198016" y="628015"/>
            <a:ext cx="10965300" cy="58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dirty="0"/>
              <a:t>The system follows a </a:t>
            </a:r>
            <a:r>
              <a:rPr lang="en-US" b="1" dirty="0"/>
              <a:t>modular multi-tier architecture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frontend layer</a:t>
            </a:r>
            <a:r>
              <a:rPr lang="en-US" dirty="0"/>
              <a:t> handles user interaction and data visualization.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backend layer</a:t>
            </a:r>
            <a:r>
              <a:rPr lang="en-US" dirty="0"/>
              <a:t> manages authentication, product services, order processing, and API communication.</a:t>
            </a:r>
          </a:p>
          <a:p>
            <a:pPr algn="just"/>
            <a:r>
              <a:rPr lang="en-US" dirty="0"/>
              <a:t>A separate </a:t>
            </a:r>
            <a:r>
              <a:rPr lang="en-US" b="1" dirty="0"/>
              <a:t>machine learning microservice</a:t>
            </a:r>
            <a:r>
              <a:rPr lang="en-US" dirty="0"/>
              <a:t> processes user data to generate recommendations and predictive analytics.</a:t>
            </a:r>
          </a:p>
          <a:p>
            <a:pPr algn="just"/>
            <a:r>
              <a:rPr lang="en-US" dirty="0"/>
              <a:t>The chatbot module processes user prompts by connecting to a </a:t>
            </a:r>
            <a:r>
              <a:rPr lang="en-US" dirty="0" err="1"/>
              <a:t>Groq</a:t>
            </a:r>
            <a:r>
              <a:rPr lang="en-US" dirty="0"/>
              <a:t> API-based AI model to retrieve relevant responses; if a query is not handled through predefined rules or intent recognition, and in severe cases, it escalates the issue to the admin, while handling other errors by displaying appropriate messages.</a:t>
            </a:r>
          </a:p>
          <a:p>
            <a:pPr algn="just"/>
            <a:r>
              <a:rPr lang="en-US" dirty="0"/>
              <a:t>This layered design ensures </a:t>
            </a:r>
            <a:r>
              <a:rPr lang="en-US" b="1" dirty="0"/>
              <a:t>scalability, maintainability, and efficient system performance</a:t>
            </a:r>
            <a:r>
              <a:rPr lang="en-US" dirty="0"/>
              <a:t>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B69036B8-DB41-73B7-D271-9C439EE486C5}"/>
              </a:ext>
            </a:extLst>
          </p:cNvPr>
          <p:cNvSpPr>
            <a:spLocks noGrp="1"/>
          </p:cNvSpPr>
          <p:nvPr/>
        </p:nvSpPr>
        <p:spPr>
          <a:xfrm>
            <a:off x="2676303" y="6137064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CA9F110-370F-5BC8-4ADD-9929110C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>
            <a:extLst>
              <a:ext uri="{FF2B5EF4-FFF2-40B4-BE49-F238E27FC236}">
                <a16:creationId xmlns:a16="http://schemas.microsoft.com/office/drawing/2014/main" id="{2C1F6B89-77EB-C21D-2C2D-15191237A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1250" y="263675"/>
            <a:ext cx="11052600" cy="494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3600" b="1" dirty="0">
                <a:solidFill>
                  <a:schemeClr val="dk1"/>
                </a:solidFill>
              </a:rPr>
              <a:t>Proposed Methodology</a:t>
            </a:r>
            <a:endParaRPr sz="3600" b="1" dirty="0">
              <a:solidFill>
                <a:schemeClr val="dk1"/>
              </a:solidFill>
            </a:endParaRPr>
          </a:p>
        </p:txBody>
      </p:sp>
      <p:cxnSp>
        <p:nvCxnSpPr>
          <p:cNvPr id="179" name="Google Shape;179;p9">
            <a:extLst>
              <a:ext uri="{FF2B5EF4-FFF2-40B4-BE49-F238E27FC236}">
                <a16:creationId xmlns:a16="http://schemas.microsoft.com/office/drawing/2014/main" id="{50C2ADBC-4DBB-A52F-CC71-6D5FD36B3CA2}"/>
              </a:ext>
            </a:extLst>
          </p:cNvPr>
          <p:cNvCxnSpPr/>
          <p:nvPr/>
        </p:nvCxnSpPr>
        <p:spPr>
          <a:xfrm rot="10800000" flipH="1">
            <a:off x="301250" y="758079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0" name="Google Shape;180;p9">
            <a:extLst>
              <a:ext uri="{FF2B5EF4-FFF2-40B4-BE49-F238E27FC236}">
                <a16:creationId xmlns:a16="http://schemas.microsoft.com/office/drawing/2014/main" id="{2D33E46A-3929-EE17-5273-6C24F33DD3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11</a:t>
            </a:fld>
            <a:endParaRPr sz="1600" b="1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613C3945-E96B-6405-6D11-14451746BFAB}"/>
              </a:ext>
            </a:extLst>
          </p:cNvPr>
          <p:cNvSpPr>
            <a:spLocks noGrp="1"/>
          </p:cNvSpPr>
          <p:nvPr/>
        </p:nvSpPr>
        <p:spPr>
          <a:xfrm>
            <a:off x="2676303" y="6137064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15003-EA9F-E514-5B68-59895250D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144" y="1013366"/>
            <a:ext cx="8992855" cy="506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35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39C346-E07E-8AA8-46B8-8316BA268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13" y="0"/>
            <a:ext cx="11615057" cy="7609114"/>
          </a:xfrm>
          <a:prstGeom prst="rect">
            <a:avLst/>
          </a:prstGeom>
        </p:spPr>
      </p:pic>
      <p:sp>
        <p:nvSpPr>
          <p:cNvPr id="187" name="Google Shape;187;g3958a9180db_0_1"/>
          <p:cNvSpPr txBox="1">
            <a:spLocks noGrp="1"/>
          </p:cNvSpPr>
          <p:nvPr>
            <p:ph type="title"/>
          </p:nvPr>
        </p:nvSpPr>
        <p:spPr>
          <a:xfrm>
            <a:off x="5475768" y="136550"/>
            <a:ext cx="121920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7777"/>
              <a:buFont typeface="Times New Roman"/>
              <a:buNone/>
            </a:pPr>
            <a:r>
              <a:rPr lang="en-IN" sz="3600" b="1" dirty="0"/>
              <a:t>System Architecture :</a:t>
            </a:r>
            <a:endParaRPr sz="3600" dirty="0"/>
          </a:p>
        </p:txBody>
      </p:sp>
      <p:sp>
        <p:nvSpPr>
          <p:cNvPr id="188" name="Google Shape;188;g3958a9180db_0_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DC8A260E-BB49-EB72-EDFD-5FCA3F2D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>
            <a:extLst>
              <a:ext uri="{FF2B5EF4-FFF2-40B4-BE49-F238E27FC236}">
                <a16:creationId xmlns:a16="http://schemas.microsoft.com/office/drawing/2014/main" id="{4B5C53DC-EF56-C4F1-3159-1B7FE6BCA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1250" y="263675"/>
            <a:ext cx="11052600" cy="494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3600" b="1" dirty="0"/>
              <a:t>U</a:t>
            </a:r>
            <a:r>
              <a:rPr lang="en-IN" sz="3600" b="1" dirty="0"/>
              <a:t>se case Diagram</a:t>
            </a:r>
            <a:endParaRPr sz="3600" b="1" dirty="0">
              <a:solidFill>
                <a:schemeClr val="dk1"/>
              </a:solidFill>
            </a:endParaRPr>
          </a:p>
        </p:txBody>
      </p:sp>
      <p:cxnSp>
        <p:nvCxnSpPr>
          <p:cNvPr id="179" name="Google Shape;179;p9">
            <a:extLst>
              <a:ext uri="{FF2B5EF4-FFF2-40B4-BE49-F238E27FC236}">
                <a16:creationId xmlns:a16="http://schemas.microsoft.com/office/drawing/2014/main" id="{04CA0388-3527-AB8A-9A78-C8BEF7D2DD5A}"/>
              </a:ext>
            </a:extLst>
          </p:cNvPr>
          <p:cNvCxnSpPr/>
          <p:nvPr/>
        </p:nvCxnSpPr>
        <p:spPr>
          <a:xfrm rot="10800000" flipH="1">
            <a:off x="301250" y="758079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0" name="Google Shape;180;p9">
            <a:extLst>
              <a:ext uri="{FF2B5EF4-FFF2-40B4-BE49-F238E27FC236}">
                <a16:creationId xmlns:a16="http://schemas.microsoft.com/office/drawing/2014/main" id="{E7307C80-378A-1313-BA97-BB684E452A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13</a:t>
            </a:fld>
            <a:endParaRPr sz="1600" b="1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2ECE058-4079-AC25-D848-D03AAD222FD3}"/>
              </a:ext>
            </a:extLst>
          </p:cNvPr>
          <p:cNvSpPr>
            <a:spLocks noGrp="1"/>
          </p:cNvSpPr>
          <p:nvPr/>
        </p:nvSpPr>
        <p:spPr>
          <a:xfrm>
            <a:off x="2676303" y="6137064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7674DA-6945-DAEC-C5C9-A1C4051FF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940" y="794079"/>
            <a:ext cx="5179219" cy="592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29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79;p9">
            <a:extLst>
              <a:ext uri="{FF2B5EF4-FFF2-40B4-BE49-F238E27FC236}">
                <a16:creationId xmlns:a16="http://schemas.microsoft.com/office/drawing/2014/main" id="{06D23D88-06EB-5917-3238-70B8AC4CFCD8}"/>
              </a:ext>
            </a:extLst>
          </p:cNvPr>
          <p:cNvCxnSpPr/>
          <p:nvPr/>
        </p:nvCxnSpPr>
        <p:spPr>
          <a:xfrm rot="10800000" flipH="1">
            <a:off x="265814" y="607255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1D434E4-79D7-8C0E-9A98-DC9F1FC99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865" y="679257"/>
            <a:ext cx="8867554" cy="6178742"/>
          </a:xfrm>
          <a:prstGeom prst="rect">
            <a:avLst/>
          </a:prstGeom>
        </p:spPr>
      </p:pic>
      <p:sp>
        <p:nvSpPr>
          <p:cNvPr id="209" name="Google Shape;209;g386cf6a2822_0_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14</a:t>
            </a:fld>
            <a:endParaRPr sz="1600" b="1"/>
          </a:p>
        </p:txBody>
      </p:sp>
      <p:sp>
        <p:nvSpPr>
          <p:cNvPr id="210" name="Google Shape;210;g386cf6a2822_0_38"/>
          <p:cNvSpPr txBox="1">
            <a:spLocks noGrp="1"/>
          </p:cNvSpPr>
          <p:nvPr>
            <p:ph type="title"/>
          </p:nvPr>
        </p:nvSpPr>
        <p:spPr>
          <a:xfrm>
            <a:off x="265814" y="148855"/>
            <a:ext cx="34851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800" b="1" dirty="0"/>
              <a:t>Class Diagram</a:t>
            </a:r>
            <a:endParaRPr sz="2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6cf6a2822_0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15</a:t>
            </a:fld>
            <a:endParaRPr sz="1600" b="1"/>
          </a:p>
        </p:txBody>
      </p:sp>
      <p:sp>
        <p:nvSpPr>
          <p:cNvPr id="217" name="Google Shape;217;g386cf6a2822_0_45"/>
          <p:cNvSpPr txBox="1">
            <a:spLocks noGrp="1"/>
          </p:cNvSpPr>
          <p:nvPr>
            <p:ph type="title"/>
          </p:nvPr>
        </p:nvSpPr>
        <p:spPr>
          <a:xfrm>
            <a:off x="77966" y="83100"/>
            <a:ext cx="66894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800" b="1" dirty="0"/>
              <a:t>Sequence Diagram</a:t>
            </a:r>
            <a:endParaRPr sz="2800" b="1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8248C0-B5F6-5E34-C922-D5500A339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803" y="735225"/>
            <a:ext cx="9416562" cy="6039675"/>
          </a:xfrm>
          <a:prstGeom prst="rect">
            <a:avLst/>
          </a:prstGeom>
        </p:spPr>
      </p:pic>
      <p:cxnSp>
        <p:nvCxnSpPr>
          <p:cNvPr id="4" name="Google Shape;179;p9">
            <a:extLst>
              <a:ext uri="{FF2B5EF4-FFF2-40B4-BE49-F238E27FC236}">
                <a16:creationId xmlns:a16="http://schemas.microsoft.com/office/drawing/2014/main" id="{831EBD30-8330-13B4-EA03-E1A52FFA36ED}"/>
              </a:ext>
            </a:extLst>
          </p:cNvPr>
          <p:cNvCxnSpPr/>
          <p:nvPr/>
        </p:nvCxnSpPr>
        <p:spPr>
          <a:xfrm rot="10800000" flipH="1">
            <a:off x="77966" y="559500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79;p9">
            <a:extLst>
              <a:ext uri="{FF2B5EF4-FFF2-40B4-BE49-F238E27FC236}">
                <a16:creationId xmlns:a16="http://schemas.microsoft.com/office/drawing/2014/main" id="{5E910F00-FE90-1EFB-2D3E-033E15893A23}"/>
              </a:ext>
            </a:extLst>
          </p:cNvPr>
          <p:cNvCxnSpPr/>
          <p:nvPr/>
        </p:nvCxnSpPr>
        <p:spPr>
          <a:xfrm rot="10800000" flipH="1">
            <a:off x="205557" y="696050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BFA2809-1D42-9785-6116-378098B53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095" y="0"/>
            <a:ext cx="5854174" cy="6858000"/>
          </a:xfrm>
          <a:prstGeom prst="rect">
            <a:avLst/>
          </a:prstGeom>
        </p:spPr>
      </p:pic>
      <p:sp>
        <p:nvSpPr>
          <p:cNvPr id="230" name="Google Shape;230;g386cf6a2822_0_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16</a:t>
            </a:fld>
            <a:endParaRPr sz="1600" b="1"/>
          </a:p>
        </p:txBody>
      </p:sp>
      <p:sp>
        <p:nvSpPr>
          <p:cNvPr id="231" name="Google Shape;231;g386cf6a2822_0_59"/>
          <p:cNvSpPr txBox="1">
            <a:spLocks noGrp="1"/>
          </p:cNvSpPr>
          <p:nvPr>
            <p:ph type="title"/>
          </p:nvPr>
        </p:nvSpPr>
        <p:spPr>
          <a:xfrm>
            <a:off x="0" y="187375"/>
            <a:ext cx="50217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800" b="1" dirty="0"/>
              <a:t>Activity Diagram (User Side):</a:t>
            </a:r>
            <a:endParaRPr sz="2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DA1AD483-725A-8369-57AD-9BC72357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79;p9">
            <a:extLst>
              <a:ext uri="{FF2B5EF4-FFF2-40B4-BE49-F238E27FC236}">
                <a16:creationId xmlns:a16="http://schemas.microsoft.com/office/drawing/2014/main" id="{BA823793-3DC2-91B1-9B97-E3E6F567AF9E}"/>
              </a:ext>
            </a:extLst>
          </p:cNvPr>
          <p:cNvCxnSpPr/>
          <p:nvPr/>
        </p:nvCxnSpPr>
        <p:spPr>
          <a:xfrm rot="10800000" flipH="1">
            <a:off x="205557" y="696050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0" name="Google Shape;230;g386cf6a2822_0_59">
            <a:extLst>
              <a:ext uri="{FF2B5EF4-FFF2-40B4-BE49-F238E27FC236}">
                <a16:creationId xmlns:a16="http://schemas.microsoft.com/office/drawing/2014/main" id="{45094A8C-DAF9-D814-4A07-C6EA3BDB6F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17</a:t>
            </a:fld>
            <a:endParaRPr sz="1600" b="1"/>
          </a:p>
        </p:txBody>
      </p:sp>
      <p:sp>
        <p:nvSpPr>
          <p:cNvPr id="231" name="Google Shape;231;g386cf6a2822_0_59">
            <a:extLst>
              <a:ext uri="{FF2B5EF4-FFF2-40B4-BE49-F238E27FC236}">
                <a16:creationId xmlns:a16="http://schemas.microsoft.com/office/drawing/2014/main" id="{36836C33-9435-A9FB-0F0C-23C51B0EE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87375"/>
            <a:ext cx="50217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800" b="1" dirty="0"/>
              <a:t>Activity Diagram (Admin Side):</a:t>
            </a:r>
            <a:endParaRPr sz="2800" b="1"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D2956-E178-7637-FDB8-45212532F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814268"/>
            <a:ext cx="7442791" cy="593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39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6cf6a2822_0_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18</a:t>
            </a:fld>
            <a:endParaRPr sz="1600" b="1"/>
          </a:p>
        </p:txBody>
      </p:sp>
      <p:sp>
        <p:nvSpPr>
          <p:cNvPr id="238" name="Google Shape;238;g386cf6a2822_0_66"/>
          <p:cNvSpPr txBox="1">
            <a:spLocks noGrp="1"/>
          </p:cNvSpPr>
          <p:nvPr>
            <p:ph type="title"/>
          </p:nvPr>
        </p:nvSpPr>
        <p:spPr>
          <a:xfrm>
            <a:off x="361507" y="201649"/>
            <a:ext cx="50217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800" b="1" dirty="0"/>
              <a:t>Deployment Diagram</a:t>
            </a:r>
            <a:endParaRPr sz="2800" b="1" dirty="0">
              <a:solidFill>
                <a:schemeClr val="dk1"/>
              </a:solidFill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00F3FF1C-823D-3F40-9848-873855A86815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2B3B85-64D9-3C0E-BADC-BDE29445E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837" y="871870"/>
            <a:ext cx="9250326" cy="5986130"/>
          </a:xfrm>
          <a:prstGeom prst="rect">
            <a:avLst/>
          </a:prstGeom>
        </p:spPr>
      </p:pic>
      <p:cxnSp>
        <p:nvCxnSpPr>
          <p:cNvPr id="5" name="Google Shape;179;p9">
            <a:extLst>
              <a:ext uri="{FF2B5EF4-FFF2-40B4-BE49-F238E27FC236}">
                <a16:creationId xmlns:a16="http://schemas.microsoft.com/office/drawing/2014/main" id="{EE0109A5-97FB-D45D-0359-E5330C354B92}"/>
              </a:ext>
            </a:extLst>
          </p:cNvPr>
          <p:cNvCxnSpPr/>
          <p:nvPr/>
        </p:nvCxnSpPr>
        <p:spPr>
          <a:xfrm rot="10800000" flipH="1">
            <a:off x="205557" y="696050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4B983-CDCC-00C8-9507-4BB106332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231" y="1253331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Frontend Module (Client)</a:t>
            </a:r>
          </a:p>
          <a:p>
            <a:r>
              <a:rPr lang="en-US" dirty="0"/>
              <a:t>Developed using </a:t>
            </a:r>
            <a:r>
              <a:rPr lang="en-US" b="1" dirty="0"/>
              <a:t>React + Vite + Tailwind CSS</a:t>
            </a:r>
            <a:r>
              <a:rPr lang="en-US" dirty="0"/>
              <a:t>.</a:t>
            </a:r>
          </a:p>
          <a:p>
            <a:r>
              <a:rPr lang="en-US" dirty="0"/>
              <a:t>Implements UI pages such as Home, Products, Cart, Orders, Profile, Login/Register, and Admin Dashboard.</a:t>
            </a:r>
          </a:p>
          <a:p>
            <a:r>
              <a:rPr lang="en-US" dirty="0"/>
              <a:t>Uses reusable components like Header, Footer, </a:t>
            </a:r>
            <a:r>
              <a:rPr lang="en-US" dirty="0" err="1"/>
              <a:t>ProductCard</a:t>
            </a:r>
            <a:r>
              <a:rPr lang="en-US" dirty="0"/>
              <a:t>, </a:t>
            </a:r>
            <a:r>
              <a:rPr lang="en-US" dirty="0" err="1"/>
              <a:t>BarChart</a:t>
            </a:r>
            <a:r>
              <a:rPr lang="en-US" dirty="0"/>
              <a:t>, and Chatbot interface.</a:t>
            </a:r>
          </a:p>
          <a:p>
            <a:r>
              <a:rPr lang="en-US" dirty="0"/>
              <a:t>Communicates with backend services via REST APIs for dynamic data rendering. 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B4CC2-91EC-EFB1-A955-A09A1BD797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  <p:sp>
        <p:nvSpPr>
          <p:cNvPr id="7" name="Google Shape;244;p11">
            <a:extLst>
              <a:ext uri="{FF2B5EF4-FFF2-40B4-BE49-F238E27FC236}">
                <a16:creationId xmlns:a16="http://schemas.microsoft.com/office/drawing/2014/main" id="{6EFB9D77-78E2-D789-30D1-F77469B92F2B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Implementation – Module Description</a:t>
            </a:r>
            <a:endParaRPr lang="en-IN" sz="3600" dirty="0"/>
          </a:p>
        </p:txBody>
      </p:sp>
      <p:cxnSp>
        <p:nvCxnSpPr>
          <p:cNvPr id="8" name="Google Shape;245;p11">
            <a:extLst>
              <a:ext uri="{FF2B5EF4-FFF2-40B4-BE49-F238E27FC236}">
                <a16:creationId xmlns:a16="http://schemas.microsoft.com/office/drawing/2014/main" id="{1C020A17-3C16-6C64-1217-B6B1711D3022}"/>
              </a:ext>
            </a:extLst>
          </p:cNvPr>
          <p:cNvCxnSpPr/>
          <p:nvPr/>
        </p:nvCxnSpPr>
        <p:spPr>
          <a:xfrm rot="10800000" flipH="1">
            <a:off x="478231" y="975038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54730F0F-2A7F-C8DC-4606-D1D53D961E31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2393388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CAA81-5E52-2E05-74E6-465CC661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D9762-941A-64B7-59F0-B4201EBC1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231" y="1253331"/>
            <a:ext cx="10515600" cy="4717256"/>
          </a:xfrm>
        </p:spPr>
        <p:txBody>
          <a:bodyPr>
            <a:normAutofit/>
          </a:bodyPr>
          <a:lstStyle/>
          <a:p>
            <a:pPr marL="114300" indent="0">
              <a:lnSpc>
                <a:spcPct val="110000"/>
              </a:lnSpc>
              <a:buNone/>
            </a:pPr>
            <a:r>
              <a:rPr lang="en-IN" b="1" dirty="0"/>
              <a:t>Backend Module (Server)</a:t>
            </a:r>
          </a:p>
          <a:p>
            <a:pPr>
              <a:lnSpc>
                <a:spcPct val="110000"/>
              </a:lnSpc>
            </a:pPr>
            <a:r>
              <a:rPr lang="en-US" dirty="0"/>
              <a:t>Built using </a:t>
            </a:r>
            <a:r>
              <a:rPr lang="en-US" b="1" dirty="0"/>
              <a:t>Node.js + Express</a:t>
            </a:r>
            <a:r>
              <a:rPr lang="en-US" dirty="0"/>
              <a:t> to handle business logic and API routing.</a:t>
            </a:r>
          </a:p>
          <a:p>
            <a:pPr>
              <a:lnSpc>
                <a:spcPct val="110000"/>
              </a:lnSpc>
            </a:pPr>
            <a:r>
              <a:rPr lang="en-US" dirty="0"/>
              <a:t>Implements controllers for authentication, user management, product handling, cart, orders, chatbot, analytics, and recommendations.</a:t>
            </a:r>
          </a:p>
          <a:p>
            <a:pPr>
              <a:lnSpc>
                <a:spcPct val="110000"/>
              </a:lnSpc>
            </a:pPr>
            <a:r>
              <a:rPr lang="en-US" dirty="0"/>
              <a:t>Ensures secure communication, request handling, and integration with database and ML services.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7F55A-46E3-40CC-0DD2-2364BD0BBF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  <p:sp>
        <p:nvSpPr>
          <p:cNvPr id="7" name="Google Shape;244;p11">
            <a:extLst>
              <a:ext uri="{FF2B5EF4-FFF2-40B4-BE49-F238E27FC236}">
                <a16:creationId xmlns:a16="http://schemas.microsoft.com/office/drawing/2014/main" id="{37144C25-1D70-2599-2424-52B4E97A4960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Implementation – Module Description</a:t>
            </a:r>
            <a:endParaRPr lang="en-IN" sz="3600" dirty="0"/>
          </a:p>
        </p:txBody>
      </p:sp>
      <p:cxnSp>
        <p:nvCxnSpPr>
          <p:cNvPr id="8" name="Google Shape;245;p11">
            <a:extLst>
              <a:ext uri="{FF2B5EF4-FFF2-40B4-BE49-F238E27FC236}">
                <a16:creationId xmlns:a16="http://schemas.microsoft.com/office/drawing/2014/main" id="{44B133A3-5073-A03E-BD6B-EEB081CE516F}"/>
              </a:ext>
            </a:extLst>
          </p:cNvPr>
          <p:cNvCxnSpPr/>
          <p:nvPr/>
        </p:nvCxnSpPr>
        <p:spPr>
          <a:xfrm rot="10800000" flipH="1">
            <a:off x="478231" y="975038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D2282242-35ED-BB74-2195-607F2664A1E3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234293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31DA-CAE8-C2F2-5D8E-EA284862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05006-B878-BC7E-E1EA-59288A2FB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231" y="1083935"/>
            <a:ext cx="10515600" cy="2563757"/>
          </a:xfrm>
        </p:spPr>
        <p:txBody>
          <a:bodyPr>
            <a:normAutofit/>
          </a:bodyPr>
          <a:lstStyle/>
          <a:p>
            <a:pPr marL="114300" indent="0">
              <a:lnSpc>
                <a:spcPct val="110000"/>
              </a:lnSpc>
              <a:buNone/>
            </a:pPr>
            <a:r>
              <a:rPr lang="en-IN" b="1" dirty="0"/>
              <a:t>Recommender System Module: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sz="2400" dirty="0"/>
              <a:t>Uses ML algorithms to analyze user behavior and purchase history.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IN" sz="2400" dirty="0"/>
              <a:t>Generates personalized product suggestions.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sz="2400" dirty="0"/>
              <a:t>Improves user engagement and conversion rates.</a:t>
            </a:r>
            <a:endParaRPr lang="en-IN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C09B2-2911-D6F4-8330-797ECE46E6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21</a:t>
            </a:fld>
            <a:endParaRPr lang="en-IN"/>
          </a:p>
        </p:txBody>
      </p:sp>
      <p:sp>
        <p:nvSpPr>
          <p:cNvPr id="7" name="Google Shape;244;p11">
            <a:extLst>
              <a:ext uri="{FF2B5EF4-FFF2-40B4-BE49-F238E27FC236}">
                <a16:creationId xmlns:a16="http://schemas.microsoft.com/office/drawing/2014/main" id="{70DC861E-BDF9-5960-76FD-6B12ABECF00F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Implementation – Module Description</a:t>
            </a:r>
            <a:endParaRPr lang="en-IN" sz="3600" dirty="0"/>
          </a:p>
        </p:txBody>
      </p:sp>
      <p:cxnSp>
        <p:nvCxnSpPr>
          <p:cNvPr id="8" name="Google Shape;245;p11">
            <a:extLst>
              <a:ext uri="{FF2B5EF4-FFF2-40B4-BE49-F238E27FC236}">
                <a16:creationId xmlns:a16="http://schemas.microsoft.com/office/drawing/2014/main" id="{B87C7F30-33EC-B946-08DB-55280A80CD7E}"/>
              </a:ext>
            </a:extLst>
          </p:cNvPr>
          <p:cNvCxnSpPr/>
          <p:nvPr/>
        </p:nvCxnSpPr>
        <p:spPr>
          <a:xfrm rot="10800000" flipH="1">
            <a:off x="478231" y="975038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D8FF794-0C67-6B73-215A-2C7974202E3D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C67F02A-224D-8262-06F3-23E0B94F69FB}"/>
              </a:ext>
            </a:extLst>
          </p:cNvPr>
          <p:cNvSpPr txBox="1">
            <a:spLocks/>
          </p:cNvSpPr>
          <p:nvPr/>
        </p:nvSpPr>
        <p:spPr>
          <a:xfrm>
            <a:off x="478231" y="3319206"/>
            <a:ext cx="10515600" cy="256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lnSpc>
                <a:spcPct val="110000"/>
              </a:lnSpc>
              <a:buNone/>
            </a:pPr>
            <a:r>
              <a:rPr lang="en-IN" b="1" dirty="0"/>
              <a:t>Chatbot Module (AI Integration):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sz="2600" dirty="0"/>
              <a:t>Processes user prompts and connects to </a:t>
            </a:r>
            <a:r>
              <a:rPr lang="en-US" sz="2600" b="1" dirty="0" err="1"/>
              <a:t>Groq</a:t>
            </a:r>
            <a:r>
              <a:rPr lang="en-US" sz="2600" b="1" dirty="0"/>
              <a:t> API-based AI model (LLM)</a:t>
            </a:r>
            <a:r>
              <a:rPr lang="en-US" sz="2600" dirty="0"/>
              <a:t>.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sz="2600" dirty="0"/>
              <a:t>Generates dynamic and context-aware responses.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sz="2600" dirty="0"/>
              <a:t>If a query is not resolved through rule-based logic or intent recognition, severe cases are escalated to the admin.</a:t>
            </a:r>
            <a:endParaRPr lang="en-IN" sz="2600" b="1" dirty="0"/>
          </a:p>
        </p:txBody>
      </p:sp>
    </p:spTree>
    <p:extLst>
      <p:ext uri="{BB962C8B-B14F-4D97-AF65-F5344CB8AC3E}">
        <p14:creationId xmlns:p14="http://schemas.microsoft.com/office/powerpoint/2010/main" val="2731286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46EB-3ED5-4BFB-E8FF-68DCE42A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8E2A4-776B-4C79-CFEB-C197B05F57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p:sp>
        <p:nvSpPr>
          <p:cNvPr id="7" name="Google Shape;244;p11">
            <a:extLst>
              <a:ext uri="{FF2B5EF4-FFF2-40B4-BE49-F238E27FC236}">
                <a16:creationId xmlns:a16="http://schemas.microsoft.com/office/drawing/2014/main" id="{0B1F6141-098D-6485-462E-4525C3C3B398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Implementation – Module Description</a:t>
            </a:r>
            <a:endParaRPr lang="en-IN" sz="3600" dirty="0"/>
          </a:p>
        </p:txBody>
      </p:sp>
      <p:cxnSp>
        <p:nvCxnSpPr>
          <p:cNvPr id="8" name="Google Shape;245;p11">
            <a:extLst>
              <a:ext uri="{FF2B5EF4-FFF2-40B4-BE49-F238E27FC236}">
                <a16:creationId xmlns:a16="http://schemas.microsoft.com/office/drawing/2014/main" id="{F8054424-6F22-C4E0-2931-61824351DA5F}"/>
              </a:ext>
            </a:extLst>
          </p:cNvPr>
          <p:cNvCxnSpPr/>
          <p:nvPr/>
        </p:nvCxnSpPr>
        <p:spPr>
          <a:xfrm rot="10800000" flipH="1">
            <a:off x="478231" y="975038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ED874936-D3DC-46AE-AF51-35FDD95DFCC1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884611-3091-84F0-63F4-8BD74FD4031A}"/>
              </a:ext>
            </a:extLst>
          </p:cNvPr>
          <p:cNvSpPr txBox="1"/>
          <p:nvPr/>
        </p:nvSpPr>
        <p:spPr>
          <a:xfrm>
            <a:off x="318976" y="1318437"/>
            <a:ext cx="11034823" cy="4959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2000" b="1" dirty="0"/>
              <a:t>Database Module(MongoDB):</a:t>
            </a:r>
          </a:p>
          <a:p>
            <a:pPr marL="4572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Uses </a:t>
            </a:r>
            <a:r>
              <a:rPr lang="en-US" sz="2000" b="1" dirty="0"/>
              <a:t>MongoDB</a:t>
            </a:r>
            <a:r>
              <a:rPr lang="en-US" sz="2000" dirty="0"/>
              <a:t> for storing structured and semi-structured data</a:t>
            </a:r>
          </a:p>
          <a:p>
            <a:pPr marL="4572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Defines models such as User, Product, Order, Cart, and </a:t>
            </a:r>
            <a:r>
              <a:rPr lang="en-US" sz="2000" dirty="0" err="1"/>
              <a:t>UserActivity</a:t>
            </a:r>
            <a:r>
              <a:rPr lang="en-US" sz="2000" dirty="0"/>
              <a:t>.</a:t>
            </a:r>
          </a:p>
          <a:p>
            <a:pPr marL="4572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Supports efficient querying, scalability, and real-time data updates</a:t>
            </a:r>
          </a:p>
          <a:p>
            <a:pPr marL="114300">
              <a:lnSpc>
                <a:spcPct val="150000"/>
              </a:lnSpc>
            </a:pPr>
            <a:endParaRPr lang="en-US" sz="2000" dirty="0"/>
          </a:p>
          <a:p>
            <a:pPr marL="114300">
              <a:lnSpc>
                <a:spcPct val="150000"/>
              </a:lnSpc>
            </a:pPr>
            <a:r>
              <a:rPr lang="en-US" sz="2000" b="1" dirty="0"/>
              <a:t>Machine Learning Service Module (ML Service)</a:t>
            </a:r>
          </a:p>
          <a:p>
            <a:pPr marL="4572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Processes user data to generate recommendations and predictive analytics.</a:t>
            </a:r>
          </a:p>
          <a:p>
            <a:pPr marL="4572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Communicates with backend via HTTP for seamless integration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 Implemented using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Python +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FastAPI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for high-performance APIs. </a:t>
            </a:r>
          </a:p>
          <a:p>
            <a:pPr marL="114300" indent="0">
              <a:lnSpc>
                <a:spcPct val="150000"/>
              </a:lnSpc>
              <a:buNone/>
            </a:pPr>
            <a:endParaRPr lang="en-IN" sz="2000" b="1" dirty="0"/>
          </a:p>
          <a:p>
            <a:pPr marL="114300" indent="0">
              <a:lnSpc>
                <a:spcPct val="150000"/>
              </a:lnSpc>
              <a:buNone/>
            </a:pP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562468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7B0B5-93CF-AF4E-B50A-6D3F5381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3BF92-E247-C7D4-8F44-081390E14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231" y="1068541"/>
            <a:ext cx="4625397" cy="5402421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2400" b="1" dirty="0"/>
              <a:t>Hybrid Recommendation Engine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800" dirty="0"/>
              <a:t>The recommendation engine uses a hybrid approach combining content-based and collaborative filtering to generate personalized suggestions. It analyzes product features and user behavior, and falls back to popular products when data is insufficient.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22A2C-F966-6D8B-8AE0-35C3BD2FD3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23</a:t>
            </a:fld>
            <a:endParaRPr lang="en-IN"/>
          </a:p>
        </p:txBody>
      </p:sp>
      <p:sp>
        <p:nvSpPr>
          <p:cNvPr id="5" name="Google Shape;244;p11">
            <a:extLst>
              <a:ext uri="{FF2B5EF4-FFF2-40B4-BE49-F238E27FC236}">
                <a16:creationId xmlns:a16="http://schemas.microsoft.com/office/drawing/2014/main" id="{46C54DE5-11E7-7116-7B0F-1EE92212B108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Coding </a:t>
            </a:r>
            <a:endParaRPr lang="en-IN" sz="3600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1EA2D45A-F01E-B7B2-9ED5-416492F05179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E4C46C-88F2-B791-13B3-27EEC330F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629" y="1068541"/>
            <a:ext cx="6690538" cy="513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07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E3A-F4D1-D084-CBA9-ACAC3EB49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15164-EC77-AB15-56BE-E8D93BAC5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230" y="1068541"/>
            <a:ext cx="4497807" cy="5402421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2000" b="1" dirty="0"/>
              <a:t>Chatbot Processing and Response Mechanism: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2000" dirty="0"/>
              <a:t>The chatbot converts user messages into structured queries using a </a:t>
            </a:r>
            <a:r>
              <a:rPr lang="en-US" sz="2000" dirty="0" err="1"/>
              <a:t>Groq</a:t>
            </a:r>
            <a:r>
              <a:rPr lang="en-US" sz="2000" dirty="0"/>
              <a:t>-based AI model and retrieves data from MongoDB. If no results are found, it falls back to rule-based or AI-generated responses. Unresolved or severe queries are escalated to the admin with a support ticket.</a:t>
            </a:r>
          </a:p>
          <a:p>
            <a:pPr marL="114300" indent="0">
              <a:lnSpc>
                <a:spcPct val="150000"/>
              </a:lnSpc>
              <a:buNone/>
            </a:pPr>
            <a:endParaRPr lang="en-US" sz="2000" b="1" dirty="0"/>
          </a:p>
          <a:p>
            <a:pPr marL="114300" indent="0">
              <a:lnSpc>
                <a:spcPct val="150000"/>
              </a:lnSpc>
              <a:buNone/>
            </a:pP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07A6F-DF6E-6B98-DEDC-C7B5DD8CB2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24</a:t>
            </a:fld>
            <a:endParaRPr lang="en-IN"/>
          </a:p>
        </p:txBody>
      </p:sp>
      <p:sp>
        <p:nvSpPr>
          <p:cNvPr id="5" name="Google Shape;244;p11">
            <a:extLst>
              <a:ext uri="{FF2B5EF4-FFF2-40B4-BE49-F238E27FC236}">
                <a16:creationId xmlns:a16="http://schemas.microsoft.com/office/drawing/2014/main" id="{CB0F3D10-8113-69A0-1B96-ED1B7CF24B90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Coding </a:t>
            </a:r>
            <a:endParaRPr lang="en-IN" sz="3600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CC62D9F0-8B14-CA2E-ED40-03DCD8B205C7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D5B3DF-3364-EBA8-D8E6-9D1A1A7B2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037" y="0"/>
            <a:ext cx="685000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11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872AA-5883-B378-A3BF-AC89E68B4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2058B-9E90-97B7-A536-0956752C3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230" y="1068541"/>
            <a:ext cx="5343449" cy="5402421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b="1" dirty="0"/>
              <a:t>Analytics Module Functions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800" dirty="0"/>
              <a:t>The analytics module computes key business metrics such as user growth and revenue trends. The </a:t>
            </a:r>
            <a:r>
              <a:rPr lang="en-US" sz="1800" dirty="0" err="1"/>
              <a:t>getUserGrowth</a:t>
            </a:r>
            <a:r>
              <a:rPr lang="en-US" sz="1800" dirty="0"/>
              <a:t> function calculates the number of users registered in the last 30 days, providing insights into recent platform growth. The </a:t>
            </a:r>
            <a:r>
              <a:rPr lang="en-US" sz="1800" dirty="0" err="1"/>
              <a:t>getRevenueStats</a:t>
            </a:r>
            <a:r>
              <a:rPr lang="en-US" sz="1800" dirty="0"/>
              <a:t> function uses aggregation to group orders by month and compute total revenue, enabling analysis of sales performance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3A1BD-DE6A-4357-A134-CEB6B46B77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25</a:t>
            </a:fld>
            <a:endParaRPr lang="en-IN"/>
          </a:p>
        </p:txBody>
      </p:sp>
      <p:sp>
        <p:nvSpPr>
          <p:cNvPr id="5" name="Google Shape;244;p11">
            <a:extLst>
              <a:ext uri="{FF2B5EF4-FFF2-40B4-BE49-F238E27FC236}">
                <a16:creationId xmlns:a16="http://schemas.microsoft.com/office/drawing/2014/main" id="{C14EBD6F-F3A9-D3BF-A161-C0ABB8AE8D45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Coding </a:t>
            </a:r>
            <a:endParaRPr lang="en-IN" sz="3600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AC667F38-C741-5A9E-F68A-E04A90C46C7D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7F035-7FB8-7B11-F42E-79A5097D4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199" y="1169580"/>
            <a:ext cx="5498632" cy="492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92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88BCE-D621-C093-4B17-3C4FA8616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C1890-0A79-BA22-B4FD-715782426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272" y="727789"/>
            <a:ext cx="10313817" cy="5402421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Login System :</a:t>
            </a: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008F5-FC44-E83E-95A0-4193C68F64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26</a:t>
            </a:fld>
            <a:endParaRPr lang="en-IN"/>
          </a:p>
        </p:txBody>
      </p:sp>
      <p:sp>
        <p:nvSpPr>
          <p:cNvPr id="5" name="Google Shape;244;p11">
            <a:extLst>
              <a:ext uri="{FF2B5EF4-FFF2-40B4-BE49-F238E27FC236}">
                <a16:creationId xmlns:a16="http://schemas.microsoft.com/office/drawing/2014/main" id="{6DAE5B28-194E-65D9-E05A-5C84B9843A77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Results (Expected output)</a:t>
            </a:r>
            <a:endParaRPr lang="en-IN" sz="3600" dirty="0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BDDEA9C1-71B8-906B-F346-CF2C90F43944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0F52D5-D19C-950A-A801-B02D0E251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16" y="1541721"/>
            <a:ext cx="11780875" cy="517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88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286C0-E0AF-AFFE-CE15-43025D6C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0E482-954D-30C8-450A-7F6EEA909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272" y="727789"/>
            <a:ext cx="10313817" cy="5402421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Personalized Customer Chatbot:</a:t>
            </a: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F3540-F113-1B96-D899-8134FB24ED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27</a:t>
            </a:fld>
            <a:endParaRPr lang="en-IN"/>
          </a:p>
        </p:txBody>
      </p:sp>
      <p:sp>
        <p:nvSpPr>
          <p:cNvPr id="5" name="Google Shape;244;p11">
            <a:extLst>
              <a:ext uri="{FF2B5EF4-FFF2-40B4-BE49-F238E27FC236}">
                <a16:creationId xmlns:a16="http://schemas.microsoft.com/office/drawing/2014/main" id="{9E7B5903-6DFA-C0A8-A652-86BE20FD09DE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Results (Expected output)</a:t>
            </a:r>
            <a:endParaRPr lang="en-IN" sz="3600" dirty="0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90FD080E-DD7B-9193-AC60-B3B590C52E39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89980-0D1C-C53C-DBA1-B79D6FDBD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56" y="1520454"/>
            <a:ext cx="11876567" cy="527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19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F9C8C-D3AF-B423-4946-0FF28B02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F9B04-832B-8453-F48C-3B95FA762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272" y="727789"/>
            <a:ext cx="10313817" cy="5402421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 Admin Dashboard:</a:t>
            </a:r>
          </a:p>
          <a:p>
            <a:pPr marL="114300" indent="0">
              <a:lnSpc>
                <a:spcPct val="150000"/>
              </a:lnSpc>
              <a:buNone/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A73E8-E9B5-4A3A-A1CC-40F522A4F8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28</a:t>
            </a:fld>
            <a:endParaRPr lang="en-IN"/>
          </a:p>
        </p:txBody>
      </p:sp>
      <p:sp>
        <p:nvSpPr>
          <p:cNvPr id="5" name="Google Shape;244;p11">
            <a:extLst>
              <a:ext uri="{FF2B5EF4-FFF2-40B4-BE49-F238E27FC236}">
                <a16:creationId xmlns:a16="http://schemas.microsoft.com/office/drawing/2014/main" id="{C275937D-AA42-9EC7-9E19-A473F5EC8C32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Results (Expected output)</a:t>
            </a:r>
            <a:endParaRPr lang="en-IN" sz="36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D946E6-2338-6406-BDDA-B6F23DF8663E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123782-9694-FBE1-5544-9A946DF7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6661"/>
            <a:ext cx="6095999" cy="5264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89F35C-A45F-CF5C-E9AB-5DBB38431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855" y="1456661"/>
            <a:ext cx="5734729" cy="526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69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06FA-C130-C7DB-C4C7-A3E56B751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B7573-55BB-C127-F3DF-865940B7E2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29</a:t>
            </a:fld>
            <a:endParaRPr lang="en-IN"/>
          </a:p>
        </p:txBody>
      </p:sp>
      <p:sp>
        <p:nvSpPr>
          <p:cNvPr id="5" name="Google Shape;244;p11">
            <a:extLst>
              <a:ext uri="{FF2B5EF4-FFF2-40B4-BE49-F238E27FC236}">
                <a16:creationId xmlns:a16="http://schemas.microsoft.com/office/drawing/2014/main" id="{B77D2350-66EA-640C-2C67-8DA8A1EEE6DF}"/>
              </a:ext>
            </a:extLst>
          </p:cNvPr>
          <p:cNvSpPr txBox="1">
            <a:spLocks/>
          </p:cNvSpPr>
          <p:nvPr/>
        </p:nvSpPr>
        <p:spPr>
          <a:xfrm>
            <a:off x="478231" y="387037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dirty="0"/>
              <a:t>Results (Expected output)</a:t>
            </a:r>
            <a:endParaRPr lang="en-IN" sz="3600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C2A11B9B-8CB8-02CA-3407-B6A5BDD96BD4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9D2240-A2D0-EF32-442F-DE60ACB4A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731" y="1158647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Recommendations:</a:t>
            </a:r>
            <a:endParaRPr lang="en-IN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A6005A-B23D-F0F1-6835-461C23F75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1402"/>
            <a:ext cx="6230679" cy="50365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6C7FE4-66DC-EAE4-CBDB-57D66F703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508" y="1821402"/>
            <a:ext cx="5631554" cy="503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44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 txBox="1">
            <a:spLocks noGrp="1"/>
          </p:cNvSpPr>
          <p:nvPr>
            <p:ph type="title"/>
          </p:nvPr>
        </p:nvSpPr>
        <p:spPr>
          <a:xfrm>
            <a:off x="301250" y="226303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600"/>
              <a:t>Conclusion</a:t>
            </a:r>
            <a:endParaRPr sz="3600" b="1">
              <a:solidFill>
                <a:schemeClr val="dk1"/>
              </a:solidFill>
            </a:endParaRPr>
          </a:p>
        </p:txBody>
      </p:sp>
      <p:cxnSp>
        <p:nvCxnSpPr>
          <p:cNvPr id="245" name="Google Shape;245;p11"/>
          <p:cNvCxnSpPr/>
          <p:nvPr/>
        </p:nvCxnSpPr>
        <p:spPr>
          <a:xfrm rot="10800000" flipH="1">
            <a:off x="301250" y="814304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6" name="Google Shape;24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30</a:t>
            </a:fld>
            <a:endParaRPr sz="1600" b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A312A3-4B82-05CB-BC9F-132F93CA0D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3659" y="520303"/>
            <a:ext cx="12117420" cy="57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recommendations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user behavior and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analytics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better and faster data-driven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chatbot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Groq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-based)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enhances user interaction by handling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queries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Escalation mechanisms ensure critical issues are directed to the admin when required.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multi-tier architecture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scalability, flexibility, and maintainability.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system 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experience, engagement, and business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"/>
          <p:cNvSpPr txBox="1">
            <a:spLocks noGrp="1"/>
          </p:cNvSpPr>
          <p:nvPr>
            <p:ph type="title"/>
          </p:nvPr>
        </p:nvSpPr>
        <p:spPr>
          <a:xfrm>
            <a:off x="301250" y="262325"/>
            <a:ext cx="11052600" cy="588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3600" b="1"/>
              <a:t>Future Course of Actions</a:t>
            </a:r>
            <a:endParaRPr sz="3600" b="1">
              <a:solidFill>
                <a:schemeClr val="dk1"/>
              </a:solidFill>
            </a:endParaRPr>
          </a:p>
        </p:txBody>
      </p:sp>
      <p:cxnSp>
        <p:nvCxnSpPr>
          <p:cNvPr id="253" name="Google Shape;253;p13"/>
          <p:cNvCxnSpPr/>
          <p:nvPr/>
        </p:nvCxnSpPr>
        <p:spPr>
          <a:xfrm rot="10800000" flipH="1">
            <a:off x="301250" y="814304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4" name="Google Shape;25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IN" sz="1600" b="1"/>
              <a:t>31</a:t>
            </a:fld>
            <a:endParaRPr sz="1600" b="1"/>
          </a:p>
        </p:txBody>
      </p:sp>
      <p:sp>
        <p:nvSpPr>
          <p:cNvPr id="255" name="Google Shape;255;p13"/>
          <p:cNvSpPr txBox="1">
            <a:spLocks noGrp="1"/>
          </p:cNvSpPr>
          <p:nvPr>
            <p:ph type="body" idx="1"/>
          </p:nvPr>
        </p:nvSpPr>
        <p:spPr>
          <a:xfrm>
            <a:off x="301250" y="1181683"/>
            <a:ext cx="11052600" cy="3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Future enhancements of the system may include: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Deep learning-based recommendation models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Real-time streaming analytics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Voice-enabled chatbot support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Integration with cloud-based deployment and auto-scaling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Advanced fraud detection and sentiment analysis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AD0093F-BD25-77A4-61C9-775071B22E3F}"/>
              </a:ext>
            </a:extLst>
          </p:cNvPr>
          <p:cNvSpPr>
            <a:spLocks noGrp="1"/>
          </p:cNvSpPr>
          <p:nvPr/>
        </p:nvSpPr>
        <p:spPr>
          <a:xfrm>
            <a:off x="2750731" y="6024972"/>
            <a:ext cx="6690538" cy="770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III </a:t>
            </a:r>
            <a:r>
              <a:rPr lang="en-US" dirty="0" err="1"/>
              <a:t>B.Tech</a:t>
            </a:r>
            <a:r>
              <a:rPr lang="en-US" dirty="0"/>
              <a:t> (CSE-D) Industrial Oriented Mini Project (IOMP)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>
            <a:spLocks noGrp="1"/>
          </p:cNvSpPr>
          <p:nvPr>
            <p:ph type="body" idx="1"/>
          </p:nvPr>
        </p:nvSpPr>
        <p:spPr>
          <a:xfrm>
            <a:off x="395450" y="832612"/>
            <a:ext cx="11052600" cy="57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n-IN" sz="1800" dirty="0"/>
              <a:t>[1] N. Jain and A. Hussain, “A Hybrid Machine Learning Approach for Improving E-Commerce Recommendation Systems Using Python,” </a:t>
            </a:r>
            <a:r>
              <a:rPr lang="en-IN" sz="1800" i="1" dirty="0"/>
              <a:t>International Journal of Scientific Research in Science and Technology</a:t>
            </a:r>
            <a:r>
              <a:rPr lang="en-IN" sz="1800" dirty="0"/>
              <a:t>. [Online]. Available: </a:t>
            </a:r>
            <a:r>
              <a:rPr lang="en-IN" sz="1800" dirty="0">
                <a:hlinkClick r:id="rId3"/>
              </a:rPr>
              <a:t>https://www.ijsrst.technoscienceacademy.com/index.php/home/article/view/IJSRST251263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[2] G. </a:t>
            </a:r>
            <a:r>
              <a:rPr lang="en-IN" sz="1800" dirty="0" err="1"/>
              <a:t>Adomavicius</a:t>
            </a:r>
            <a:r>
              <a:rPr lang="en-IN" sz="1800" dirty="0"/>
              <a:t> and A. </a:t>
            </a:r>
            <a:r>
              <a:rPr lang="en-IN" sz="1800" dirty="0" err="1"/>
              <a:t>Tuzhilin</a:t>
            </a:r>
            <a:r>
              <a:rPr lang="en-IN" sz="1800" dirty="0"/>
              <a:t>, “Toward the Next Generation of Recommender Systems: A Survey of the State-of-the-Art and Possible Extensions,” </a:t>
            </a:r>
            <a:r>
              <a:rPr lang="en-IN" sz="1800" i="1" dirty="0"/>
              <a:t>IEEE Transactions on Knowledge and Data Engineering</a:t>
            </a:r>
            <a:r>
              <a:rPr lang="en-IN" sz="1800" dirty="0"/>
              <a:t>, 2005. [Online]. Available: </a:t>
            </a:r>
            <a:r>
              <a:rPr lang="en-IN" sz="1800" dirty="0">
                <a:hlinkClick r:id="rId4"/>
              </a:rPr>
              <a:t>https://homepages.dcc.ufmg.br/~nivio/cursos/ri13/sources/recommender-systems-survey-2005.pdf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[3] A. Hassan, “Personalized Product Recommendation Systems in E-commerce – A Hybrid Approach Using Reinforcement Learning and NLP.” [Online]. Available: </a:t>
            </a:r>
            <a:r>
              <a:rPr lang="en-IN" sz="1800" dirty="0">
                <a:hlinkClick r:id="rId5"/>
              </a:rPr>
              <a:t>https://ramlai.com/index.php/ramlai/article/view/35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[4] G. </a:t>
            </a:r>
            <a:r>
              <a:rPr lang="en-IN" sz="1800" dirty="0" err="1"/>
              <a:t>Adomavicius</a:t>
            </a:r>
            <a:r>
              <a:rPr lang="en-IN" sz="1800" dirty="0"/>
              <a:t> and A. </a:t>
            </a:r>
            <a:r>
              <a:rPr lang="en-IN" sz="1800" dirty="0" err="1"/>
              <a:t>Tuzhilin</a:t>
            </a:r>
            <a:r>
              <a:rPr lang="en-IN" sz="1800" dirty="0"/>
              <a:t>, “Recommendation Technologies: Survey of Current Methods and Possible Extensions.” [Online]. Available: </a:t>
            </a:r>
            <a:r>
              <a:rPr lang="en-IN" sz="1800" dirty="0">
                <a:hlinkClick r:id="rId6"/>
              </a:rPr>
              <a:t>https://archive.nyu.edu/jspui/handle/2451/14144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[5] A. Wroblewska </a:t>
            </a:r>
            <a:r>
              <a:rPr lang="en-IN" sz="1800" i="1" dirty="0"/>
              <a:t>et al.</a:t>
            </a:r>
            <a:r>
              <a:rPr lang="en-IN" sz="1800" dirty="0"/>
              <a:t>, “Multi-modal Embedding Fusion-based Recommender,” </a:t>
            </a:r>
            <a:r>
              <a:rPr lang="en-IN" sz="1800" dirty="0" err="1"/>
              <a:t>arXiv</a:t>
            </a:r>
            <a:r>
              <a:rPr lang="en-IN" sz="1800" dirty="0"/>
              <a:t> preprint. [Online]. Available: </a:t>
            </a:r>
            <a:r>
              <a:rPr lang="en-IN" sz="1800" dirty="0">
                <a:hlinkClick r:id="rId7"/>
              </a:rPr>
              <a:t>https://arxiv.org/abs/2005.06331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[6] R. Feldman and J. Sanger, </a:t>
            </a:r>
            <a:r>
              <a:rPr lang="en-IN" sz="1800" i="1" dirty="0"/>
              <a:t>The Text Mining Handbook: Advanced Approaches in </a:t>
            </a:r>
            <a:r>
              <a:rPr lang="en-IN" sz="1800" i="1" dirty="0" err="1"/>
              <a:t>Analyzing</a:t>
            </a:r>
            <a:r>
              <a:rPr lang="en-IN" sz="1800" i="1" dirty="0"/>
              <a:t> Unstructured Data</a:t>
            </a:r>
            <a:r>
              <a:rPr lang="en-IN" sz="1800" dirty="0"/>
              <a:t>. Cambridge University Press.</a:t>
            </a:r>
          </a:p>
          <a:p>
            <a:pPr marL="0" indent="0">
              <a:buNone/>
            </a:pPr>
            <a:r>
              <a:rPr lang="en-IN" sz="1800" dirty="0"/>
              <a:t>[7] P. </a:t>
            </a:r>
            <a:r>
              <a:rPr lang="en-IN" sz="1800" dirty="0" err="1"/>
              <a:t>Rajpurkar</a:t>
            </a:r>
            <a:r>
              <a:rPr lang="en-IN" sz="1800" dirty="0"/>
              <a:t>, J. Zhang, K. </a:t>
            </a:r>
            <a:r>
              <a:rPr lang="en-IN" sz="1800" dirty="0" err="1"/>
              <a:t>Lopyrev</a:t>
            </a:r>
            <a:r>
              <a:rPr lang="en-IN" sz="1800" dirty="0"/>
              <a:t>, and P. Liang, “</a:t>
            </a:r>
            <a:r>
              <a:rPr lang="en-IN" sz="1800" dirty="0" err="1"/>
              <a:t>SQuAD</a:t>
            </a:r>
            <a:r>
              <a:rPr lang="en-IN" sz="1800" dirty="0"/>
              <a:t>: 100,000+ Questions for Machine Comprehension of Text,” </a:t>
            </a:r>
            <a:r>
              <a:rPr lang="en-IN" sz="1800" dirty="0" err="1"/>
              <a:t>arXiv</a:t>
            </a:r>
            <a:r>
              <a:rPr lang="en-IN" sz="1800" dirty="0"/>
              <a:t> preprint.</a:t>
            </a:r>
          </a:p>
        </p:txBody>
      </p:sp>
      <p:sp>
        <p:nvSpPr>
          <p:cNvPr id="261" name="Google Shape;26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32</a:t>
            </a:fld>
            <a:endParaRPr/>
          </a:p>
        </p:txBody>
      </p:sp>
      <p:cxnSp>
        <p:nvCxnSpPr>
          <p:cNvPr id="262" name="Google Shape;262;p12"/>
          <p:cNvCxnSpPr/>
          <p:nvPr/>
        </p:nvCxnSpPr>
        <p:spPr>
          <a:xfrm rot="10800000" flipH="1">
            <a:off x="395450" y="683154"/>
            <a:ext cx="11052600" cy="36000"/>
          </a:xfrm>
          <a:prstGeom prst="straightConnector1">
            <a:avLst/>
          </a:prstGeom>
          <a:noFill/>
          <a:ln w="2857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3" name="Google Shape;263;p12"/>
          <p:cNvSpPr txBox="1">
            <a:spLocks noGrp="1"/>
          </p:cNvSpPr>
          <p:nvPr>
            <p:ph type="title"/>
          </p:nvPr>
        </p:nvSpPr>
        <p:spPr>
          <a:xfrm>
            <a:off x="442550" y="151250"/>
            <a:ext cx="10958400" cy="5319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3600" b="1">
                <a:solidFill>
                  <a:schemeClr val="dk1"/>
                </a:solidFill>
              </a:rPr>
              <a:t>References</a:t>
            </a:r>
            <a:endParaRPr sz="3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"/>
          <p:cNvSpPr txBox="1">
            <a:spLocks noGrp="1"/>
          </p:cNvSpPr>
          <p:nvPr>
            <p:ph type="body" idx="1"/>
          </p:nvPr>
        </p:nvSpPr>
        <p:spPr>
          <a:xfrm>
            <a:off x="838200" y="2410087"/>
            <a:ext cx="10515600" cy="129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n-IN" sz="6600" b="1">
                <a:solidFill>
                  <a:srgbClr val="0000FF"/>
                </a:solidFill>
              </a:rPr>
              <a:t>THANK YOU</a:t>
            </a:r>
            <a:endParaRPr sz="6600" b="1">
              <a:solidFill>
                <a:srgbClr val="0000FF"/>
              </a:solidFill>
            </a:endParaRPr>
          </a:p>
        </p:txBody>
      </p:sp>
      <p:sp>
        <p:nvSpPr>
          <p:cNvPr id="269" name="Google Shape;26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IN">
                <a:solidFill>
                  <a:schemeClr val="lt1"/>
                </a:solidFill>
              </a:rPr>
              <a:t>19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2556</Words>
  <Application>Microsoft Office PowerPoint</Application>
  <PresentationFormat>Widescreen</PresentationFormat>
  <Paragraphs>265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Times New Roman</vt:lpstr>
      <vt:lpstr>Wingdings</vt:lpstr>
      <vt:lpstr>Office Theme</vt:lpstr>
      <vt:lpstr>AI-Based E-Commerce Recommendation System with Analytics Dashboard and Chatbot Support</vt:lpstr>
      <vt:lpstr>Abstract</vt:lpstr>
      <vt:lpstr>Introduction</vt:lpstr>
      <vt:lpstr>Problem Statement</vt:lpstr>
      <vt:lpstr>Literature Review and Objective</vt:lpstr>
      <vt:lpstr>Literature Review and Objective</vt:lpstr>
      <vt:lpstr>Existing Systems</vt:lpstr>
      <vt:lpstr>Functional And Non-Functional Requirements:</vt:lpstr>
      <vt:lpstr>Hardware &amp; Software Requirements</vt:lpstr>
      <vt:lpstr>Proposed Methodology</vt:lpstr>
      <vt:lpstr>Proposed Methodology</vt:lpstr>
      <vt:lpstr>System Architecture :</vt:lpstr>
      <vt:lpstr>Use case Diagram</vt:lpstr>
      <vt:lpstr>Class Diagram</vt:lpstr>
      <vt:lpstr>Sequence Diagram</vt:lpstr>
      <vt:lpstr>Activity Diagram (User Side):</vt:lpstr>
      <vt:lpstr>Activity Diagram (Admin Side):</vt:lpstr>
      <vt:lpstr>Deployment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Course of Actions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 ARYAN</dc:creator>
  <cp:lastModifiedBy>MEDABOINA AJAY KUMAR</cp:lastModifiedBy>
  <cp:revision>4</cp:revision>
  <dcterms:created xsi:type="dcterms:W3CDTF">2024-08-02T07:32:03Z</dcterms:created>
  <dcterms:modified xsi:type="dcterms:W3CDTF">2026-03-30T21:35:17Z</dcterms:modified>
</cp:coreProperties>
</file>